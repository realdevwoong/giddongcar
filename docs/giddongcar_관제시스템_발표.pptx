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배경" id="{a24f3b34-6855-a96f-e259-a5e3c45ce429}">
          <p14:sldIdLst>
            <p14:sldId id="256"/>
            <p14:sldId id="257"/>
            <p14:sldId id="258"/>
          </p14:sldIdLst>
        </p14:section>
        <p14:section name="아키텍처" id="{bdb0d9ba-d846-e55c-1add-173cd14ddbd6}">
          <p14:sldIdLst>
            <p14:sldId id="259"/>
            <p14:sldId id="260"/>
            <p14:sldId id="261"/>
            <p14:sldId id="262"/>
          </p14:sldIdLst>
        </p14:section>
        <p14:section name="핵심 설계" id="{6612b46d-c15f-dee9-517e-35010721ea15}">
          <p14:sldIdLst>
            <p14:sldId id="263"/>
            <p14:sldId id="264"/>
            <p14:sldId id="265"/>
            <p14:sldId id="266"/>
          </p14:sldIdLst>
        </p14:section>
        <p14:section name="튜닝" id="{988cdb3c-ed50-fe5f-86e2-f468eb3c7e7a}">
          <p14:sldIdLst>
            <p14:sldId id="267"/>
            <p14:sldId id="268"/>
            <p14:sldId id="269"/>
            <p14:sldId id="270"/>
          </p14:sldIdLst>
        </p14:section>
        <p14:section name="디버깅과 다음 단계" id="{4e6aa6f5-ba01-6d66-f391-5cb005063f9e}">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Pinky Pro 로봇 두 대를 PC 한 대에서 관제하는 시스템을 어떻게 설계했고, 어떤 아키텍처를 골랐고, 어떤 수치를 왜 조정했는지 이야기합니다. 카메라·인식 쪽은 아직 개발 중이라 범위에서 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로봇 한 대 자율주행은 Nav2 표준 예제로 됩니다. 문제는 두 대부터입니다. 폭 35cm 문에서 정면으로 만나면 서로를 장애물로 보고 둘 다 실패합니다. 제조사 스택은 한 대 기준이라 이름이 충돌하고, 현장 공유기는 인터넷도 없고 멀티캐스트도 막습니다.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다섯 가지였고, 각각을 하나의 설계 결정으로 풀었습니다. 이후 슬라이드는 이 표의 오른쪽 열을 하나씩 풀어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배포 구조입니다. 로봇에는 제조사 bringup만 돌고, Nav2 두 개와 관제 프로그램은 모두 PC에서 돕니다. 이렇게 하면 관제가 두 로봇의 계획 경로를 같은 프로세스에서 비교할 수 있어서 교통 정리가 쉬워집니다. multi_robot.launch.py는 Nav2 두 개와 대시보드를 띄우고, 하나라도 죽으면 전체를 내립니다.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 로봇을 구분하는 일반적인 방법은 네임스페이스입니다. 그러면 제조사 bringup, URDF, TF 프레임까지 다 손대야 합니다. 저희는 로봇마다 도메인을 나눴습니다. 제조사 코드를 그대로 쓰고, Nav2도 같은 파라미터 파일을 두 번 띄우면 됩니다. 대가는 관제 프로세스가 두 도메인에 동시에 붙어야 한다는 건데, rclpy Context를 로봇마다 따로 만들어 해결했습니다.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실물에서는 Cyclone DDS를 씁니다. 현장 공유기가 멀티캐스트를 막기 때문에 멀티캐스트를 끄고 로봇 두 대와 관제 PC를 peer로 직접 적었습니다. 유니캐스트 모드에서는 한 PC, 한 도메인에서 붙을 수 있는 참가자 수 상한이 기본 10개 정도라 Nav2와 대시보드, ros2 명령이 겹치면 모자랐고, 그래서 50으로 올렸습니다. 로봇 쪽도 같은 RMW여야 하고, 시뮬레이션은 반대로 Fast DDS에 로컬호스트로 가둡니다.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관제 프로그램 내부입니다. 핵심 원칙은 판단 로직, 즉 교통 정리와 위치 찾기는 ROS를 전혀 모르는 순수 Python으로 두고, ROS 입출력은 robot.py 한 곳에만 두는 것입니다. 주황색 두 모듈이 그 순수 로직입니다. 그래서 단위 테스트 113개가 DDS 없이 몇 초 만에 돕니다.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관제를 켜면 AMCL 전역 추정으로 지도 전체에 파티클을 뿌리고, 로봇이 제자리에서 한 바퀴 돕니다. amcl_pose 공분산의 표준편차가 위치 20cm, 방향 0.25rad 아래로 연속 세 번 들어오면 확정합니다. 한 번 우연히 모인 건 믿지 않습니다. 못 찾으면 사람이 다시 돌리거나 직접 찍습니다. 처음엔 고정 출발점 방식을 만들었는데, 로봇을 특정 자리에 묶는 게 싫어서 되돌렸습니다.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교통 정리는 두 번 만들었습니다. v1은 칸 열쇠입니다. 지나갈 칸의 열쇠를 전부 한꺼번에 받아야 출발하니까 교착이 원천적으로 없습니다. 그런데 너무 보수적이라 경로가 조금만 겹쳐도 robot2가 아예 출발을 안 했습니다. 그래서 v2는 둘 다 움직이게 두고, 계획 경로가 실제로 가까워질 때만 robot2를 세우거나 뒤로 물립니다.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판단 로직 전체입니다. 두 로봇의 계획 경로를 앞쪽 일정 길이만 잘라서 꺾은선 사이 최소 거리를 봅니다. robot2 자신이 robot1 경로 위에 서 있으면 back, 앞 경로가 겹치면 stop, 아니면 go. 하던 동작에만 10cm 여유를 붙여서 멈춤과 출발이 떨리지 않게 했습니다. robot1이 서 있으면 판단하지 않습니다. 서 있는 로봇은 Nav2가 그냥 장애물로 피합니다.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 결과 코드로 재시도를 가릅니다. 104, 105, 106, 그리고 복구를 다 쓰고 코드 없이 끝난 0은 막혀서 실패한 경우라 같은 목적지로 세 번까지 다시 보냅니다. 206이나 208처럼 애초에 갈 수 없는 목적지는 다시 보내지 않습니다. 오른쪽은 운영 안전 장치입니다. 특히 제조사 bringup에 속도 타임아웃이 없어서, 종료할 때 0 속도를 보내는 걸 스크립트가 보장합니다.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 설정은 제조사 원본을 고치지 않고 복사본을 만들어 썼습니다. 원본과 diff를 떠 보면 바뀐 값은 정확히 다섯 개입니다. 위의 세 개는 좁은 문, 네 번째는 코너, 다섯 번째는 구석 문제에서 나왔습니다. 각 줄에 팀 주석으로 근거를 남겨 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팀용 복사본의 다섯 개와 별개로, pinky_navigation 설정에는 작은 로봇과 좁은 방에 맞춘 조정이 이미 들어가 있습니다. 주석에 원래 값이 남아 있습니다. 격자를 1cm로 줄이고, 1cm만 움직여도 AMCL이 갱신되게 하고, cost scaling을 키워서 벽 바로 옆에서만 비용이 급하게 오르게 했습니다. 그래야 35cm 문을 지나갑니다. 대가도 있었습니다. 1cm 격자에서는 라이다 노이즈가 셀 단위로 흔들리는 게 보여서, 다음 장의 문 앞 오판으로 이어졌습니다.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좁은 문에서 아무것도 없는데 복구 10회 뒤 실패한 사례입니다. 로그를 세 보니 collision ahead가 750번 찍혀 있었습니다. 라이다 노이즈 2cm가 1cm 격자에서 문틀을 흔들어서 경로와 순간적으로 겹친 거고, 0.3초만 이어져도 실패였습니다. 실패 허용 시간을 1.5초로 늘리고 충돌 검사를 가까운 앞만 보게 했고, 그래도 실패하면 관제가 다시 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교통 파라미터는 시뮬에서 직접 보면서 줄였습니다. 처음엔 robot1의 남은 경로 전체와 비교해서, robot1이 방 반대편에 있어도 robot2가 멈췄습니다. 앞쪽 0.8m와 0.5m만 보게 바꾸니 두 로봇이 대략 1.3m 안으로 다가올 때만 양보합니다.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시간을 제일 많이 쓴 건 알고리즘이 아니라 미들웨어였습니다. 네 가지 모두 측정부터 했습니다. 시뮬에서 odom은 오는데 clock이 0개인 걸 세어 보고 RMW 문제임을 찾았고, 현장 공유기의 멀티캐스트 차단, 인터넷 없는 시계 동기화, Ctrl+Z로 쌓인 프로세스까지 전부 스크립트와 launch에서 구조적으로 막았습니다.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남은 숙제입니다. 가장 큰 설계 부채는 robot1 고정 우선순위라 로봇이 늘면 그대로 못 씁니다. 안전 쪽은 로봇 자체에 속도 타임아웃이 없다는 게 가장 큰 위험이고, 실물은 시뮬에서 정한 값을 아직 검증 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요약하면 로봇은 도메인으로 나누고, 계산은 PC에서 하고, 판단은 순수 함수로 두었습니다. 그리고 모든 튜닝은 측정한 다음에 했습니다.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rtlCol="0"/>
          <a:lstStyle>
            <a:lvl1pPr indent="0" marL="0">
              <a:buNone/>
              <a:defRPr lang="en-US" sz="1200" spc="200" kern="0" dirty="0">
                <a:solidFill>
                  <a:srgbClr val="2F6FDB"/>
                </a:solidFill>
                <a:latin typeface="Consolas" pitchFamily="34" charset="0"/>
                <a:ea typeface="Consolas" pitchFamily="34" charset="-122"/>
                <a:cs typeface="Consolas" pitchFamily="34" charset="-120"/>
              </a:defRPr>
            </a:lvl1pPr>
          </a:lstStyle>
          <a:p>
            <a:pPr indent="0" marL="0">
              <a:buNone/>
            </a:pP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rtlCol="0"/>
          <a:lstStyle>
            <a:lvl1pPr algn="l" indent="0" marL="0">
              <a:buNone/>
              <a:defRPr lang="en-US" sz="2800" b="1" dirty="0">
                <a:solidFill>
                  <a:srgbClr val="14213D"/>
                </a:solidFill>
                <a:latin typeface="Malgun Gothic" pitchFamily="34" charset="0"/>
                <a:ea typeface="Malgun Gothic" pitchFamily="34" charset="-122"/>
                <a:cs typeface="Malgun Gothic" pitchFamily="34" charset="-120"/>
              </a:defRPr>
            </a:lvl1pPr>
          </a:lstStyle>
          <a:p>
            <a:pPr algn="l" indent="0" marL="0">
              <a:buNone/>
            </a:pPr>
            <a:endParaRPr lang="en-US" sz="28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8A94A6"/>
                </a:solidFill>
                <a:latin typeface="Malgun Gothic" pitchFamily="34" charset="0"/>
                <a:ea typeface="Malgun Gothic" pitchFamily="34" charset="-122"/>
                <a:cs typeface="Malgun Gothic" pitchFamily="34" charset="-120"/>
              </a:rPr>
              <a:t>ROS 2 다중 로봇 관제 시스템</a:t>
            </a:r>
            <a:endParaRPr lang="en-US" sz="10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1371600"/>
            <a:ext cx="6583680" cy="365760"/>
          </a:xfrm>
          <a:prstGeom prst="rect">
            <a:avLst/>
          </a:prstGeom>
          <a:noFill/>
          <a:ln/>
        </p:spPr>
        <p:txBody>
          <a:bodyPr wrap="square" lIns="0" tIns="0" rIns="0" bIns="0" rtlCol="0" anchor="t"/>
          <a:lstStyle/>
          <a:p>
            <a:pPr indent="0" marL="0">
              <a:buNone/>
            </a:pPr>
            <a:r>
              <a:rPr lang="en-US" sz="1400" spc="200" kern="0" dirty="0">
                <a:solidFill>
                  <a:srgbClr val="8FB3F0"/>
                </a:solidFill>
                <a:latin typeface="Consolas" pitchFamily="34" charset="0"/>
                <a:ea typeface="Consolas" pitchFamily="34" charset="-122"/>
                <a:cs typeface="Consolas" pitchFamily="34" charset="-120"/>
              </a:rPr>
              <a:t>GIDDONGCAR · ROS 2 JAZZY · NAV2</a:t>
            </a:r>
            <a:endParaRPr lang="en-US" sz="1400" dirty="0"/>
          </a:p>
        </p:txBody>
      </p:sp>
      <p:sp>
        <p:nvSpPr>
          <p:cNvPr id="3" name="text-2"/>
          <p:cNvSpPr txBox="1"/>
          <p:nvPr/>
        </p:nvSpPr>
        <p:spPr>
          <a:xfrm>
            <a:off x="548640" y="1874520"/>
            <a:ext cx="6766560" cy="1737360"/>
          </a:xfrm>
          <a:prstGeom prst="rect">
            <a:avLst/>
          </a:prstGeom>
          <a:noFill/>
          <a:ln/>
        </p:spPr>
        <p:txBody>
          <a:bodyPr wrap="square" lIns="0" tIns="0" rIns="0" bIns="0" rtlCol="0" anchor="t"/>
          <a:lstStyle/>
          <a:p>
            <a:pPr indent="0" marL="0">
              <a:lnSpc>
                <a:spcPct val="105000"/>
              </a:lnSpc>
              <a:buNone/>
            </a:pPr>
            <a:r>
              <a:rPr lang="en-US" sz="4400" b="1" dirty="0">
                <a:solidFill>
                  <a:srgbClr val="F6F7F4"/>
                </a:solidFill>
                <a:latin typeface="Malgun Gothic" pitchFamily="34" charset="0"/>
                <a:ea typeface="Malgun Gothic" pitchFamily="34" charset="-122"/>
                <a:cs typeface="Malgun Gothic" pitchFamily="34" charset="-120"/>
              </a:rPr>
              <a:t>ROS 2 다중 로봇</a:t>
            </a:r>
            <a:endParaRPr lang="en-US" sz="4400" dirty="0"/>
          </a:p>
          <a:p>
            <a:pPr indent="0" marL="0">
              <a:lnSpc>
                <a:spcPct val="105000"/>
              </a:lnSpc>
              <a:buNone/>
            </a:pPr>
            <a:r>
              <a:rPr lang="en-US" sz="4400" b="1" dirty="0">
                <a:solidFill>
                  <a:srgbClr val="F6F7F4"/>
                </a:solidFill>
                <a:latin typeface="Malgun Gothic" pitchFamily="34" charset="0"/>
                <a:ea typeface="Malgun Gothic" pitchFamily="34" charset="-122"/>
                <a:cs typeface="Malgun Gothic" pitchFamily="34" charset="-120"/>
              </a:rPr>
              <a:t>관제 시스템</a:t>
            </a:r>
            <a:endParaRPr lang="en-US" sz="4400" dirty="0"/>
          </a:p>
        </p:txBody>
      </p:sp>
      <p:sp>
        <p:nvSpPr>
          <p:cNvPr id="4" name="text-3"/>
          <p:cNvSpPr txBox="1"/>
          <p:nvPr/>
        </p:nvSpPr>
        <p:spPr>
          <a:xfrm>
            <a:off x="548640" y="3794760"/>
            <a:ext cx="6766560" cy="868680"/>
          </a:xfrm>
          <a:prstGeom prst="rect">
            <a:avLst/>
          </a:prstGeom>
          <a:noFill/>
          <a:ln/>
        </p:spPr>
        <p:txBody>
          <a:bodyPr wrap="square" lIns="0" tIns="0" rIns="0" bIns="0" rtlCol="0" anchor="t"/>
          <a:lstStyle/>
          <a:p>
            <a:pPr indent="0" marL="0">
              <a:lnSpc>
                <a:spcPct val="120000"/>
              </a:lnSpc>
              <a:buNone/>
            </a:pPr>
            <a:r>
              <a:rPr lang="en-US" sz="2000" dirty="0">
                <a:solidFill>
                  <a:srgbClr val="C9D3E3"/>
                </a:solidFill>
                <a:latin typeface="Malgun Gothic" pitchFamily="34" charset="0"/>
                <a:ea typeface="Malgun Gothic" pitchFamily="34" charset="-122"/>
                <a:cs typeface="Malgun Gothic" pitchFamily="34" charset="-120"/>
              </a:rPr>
              <a:t>Pinky Pro 2대를 PC 한 대에서</a:t>
            </a:r>
            <a:endParaRPr lang="en-US" sz="2000" dirty="0"/>
          </a:p>
          <a:p>
            <a:pPr indent="0" marL="0">
              <a:lnSpc>
                <a:spcPct val="120000"/>
              </a:lnSpc>
              <a:buNone/>
            </a:pPr>
            <a:r>
              <a:rPr lang="en-US" sz="2000" dirty="0">
                <a:solidFill>
                  <a:srgbClr val="C9D3E3"/>
                </a:solidFill>
                <a:latin typeface="Malgun Gothic" pitchFamily="34" charset="0"/>
                <a:ea typeface="Malgun Gothic" pitchFamily="34" charset="-122"/>
                <a:cs typeface="Malgun Gothic" pitchFamily="34" charset="-120"/>
              </a:rPr>
              <a:t>설계 · 아키텍처 · 파라미터 튜닝</a:t>
            </a:r>
            <a:endParaRPr lang="en-US" sz="2000" dirty="0"/>
          </a:p>
        </p:txBody>
      </p:sp>
      <p:sp>
        <p:nvSpPr>
          <p:cNvPr id="5" name="text-4"/>
          <p:cNvSpPr txBox="1"/>
          <p:nvPr/>
        </p:nvSpPr>
        <p:spPr>
          <a:xfrm>
            <a:off x="548640" y="5029200"/>
            <a:ext cx="6583680" cy="320040"/>
          </a:xfrm>
          <a:prstGeom prst="rect">
            <a:avLst/>
          </a:prstGeom>
          <a:noFill/>
          <a:ln/>
        </p:spPr>
        <p:txBody>
          <a:bodyPr wrap="square" lIns="0" tIns="0" rIns="0" bIns="0" rtlCol="0" anchor="t"/>
          <a:lstStyle/>
          <a:p>
            <a:pPr indent="0" marL="0">
              <a:buNone/>
            </a:pPr>
            <a:r>
              <a:rPr lang="en-US" sz="1300" dirty="0">
                <a:solidFill>
                  <a:srgbClr val="8A94A6"/>
                </a:solidFill>
                <a:latin typeface="Malgun Gothic" pitchFamily="34" charset="0"/>
                <a:ea typeface="Malgun Gothic" pitchFamily="34" charset="-122"/>
                <a:cs typeface="Malgun Gothic" pitchFamily="34" charset="-120"/>
              </a:rPr>
              <a:t>개발자 발표 · 2026-10-08</a:t>
            </a:r>
            <a:endParaRPr lang="en-US" sz="1300" dirty="0"/>
          </a:p>
        </p:txBody>
      </p:sp>
      <p:sp>
        <p:nvSpPr>
          <p:cNvPr id="6" name="robot-frame"/>
          <p:cNvSpPr/>
          <p:nvPr/>
        </p:nvSpPr>
        <p:spPr>
          <a:xfrm>
            <a:off x="7818120" y="1143000"/>
            <a:ext cx="3822192" cy="4572000"/>
          </a:xfrm>
          <a:prstGeom prst="roundRect">
            <a:avLst>
              <a:gd name="adj" fmla="val 5981"/>
            </a:avLst>
          </a:prstGeom>
          <a:solidFill>
            <a:srgbClr val="FFFFFF"/>
          </a:solidFill>
          <a:ln w="12700">
            <a:solidFill>
              <a:srgbClr val="FFFFFF"/>
            </a:solidFill>
            <a:prstDash val="solid"/>
          </a:ln>
        </p:spPr>
      </p:sp>
      <p:pic>
        <p:nvPicPr>
          <p:cNvPr id="7" name="robot" descr="Pinky Pro 로봇: 위에 LiDAR, 앞에 LCD와 초음파 센서, 양옆 바퀴">    </p:cNvPr>
          <p:cNvPicPr>
            <a:picLocks noChangeAspect="1"/>
          </p:cNvPicPr>
          <p:nvPr/>
        </p:nvPicPr>
        <p:blipFill>
          <a:blip r:embed="rId1"/>
          <a:stretch>
            <a:fillRect/>
          </a:stretch>
        </p:blipFill>
        <p:spPr>
          <a:xfrm>
            <a:off x="8092440" y="1325880"/>
            <a:ext cx="3273552" cy="38039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01 · 문제 정의</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Nav2 한 대는 예제로 된다. 두 대가 되면?</a:t>
            </a:r>
            <a:endParaRPr lang="en-US" sz="2800" dirty="0"/>
          </a:p>
        </p:txBody>
      </p:sp>
      <p:sp>
        <p:nvSpPr>
          <p:cNvPr id="4" name="card-5"/>
          <p:cNvSpPr/>
          <p:nvPr/>
        </p:nvSpPr>
        <p:spPr>
          <a:xfrm>
            <a:off x="548640" y="1737360"/>
            <a:ext cx="3557016" cy="4206240"/>
          </a:xfrm>
          <a:prstGeom prst="roundRect">
            <a:avLst>
              <a:gd name="adj" fmla="val 3085"/>
            </a:avLst>
          </a:prstGeom>
          <a:solidFill>
            <a:srgbClr val="F3F5F8"/>
          </a:solidFill>
          <a:ln w="9525">
            <a:solidFill>
              <a:srgbClr val="F3F5F8"/>
            </a:solidFill>
            <a:prstDash val="solid"/>
          </a:ln>
        </p:spPr>
      </p:sp>
      <p:sp>
        <p:nvSpPr>
          <p:cNvPr id="5" name="text-6"/>
          <p:cNvSpPr txBox="1"/>
          <p:nvPr/>
        </p:nvSpPr>
        <p:spPr>
          <a:xfrm>
            <a:off x="914400" y="2057400"/>
            <a:ext cx="2834640" cy="822960"/>
          </a:xfrm>
          <a:prstGeom prst="rect">
            <a:avLst/>
          </a:prstGeom>
          <a:noFill/>
          <a:ln/>
        </p:spPr>
        <p:txBody>
          <a:bodyPr wrap="square" lIns="0" tIns="0" rIns="0" bIns="0" rtlCol="0" anchor="t"/>
          <a:lstStyle/>
          <a:p>
            <a:pPr indent="0" marL="0">
              <a:buNone/>
            </a:pPr>
            <a:r>
              <a:rPr lang="en-US" sz="4000" b="1" dirty="0">
                <a:solidFill>
                  <a:srgbClr val="D9822B"/>
                </a:solidFill>
                <a:latin typeface="Consolas" pitchFamily="34" charset="0"/>
                <a:ea typeface="Consolas" pitchFamily="34" charset="-122"/>
                <a:cs typeface="Consolas" pitchFamily="34" charset="-120"/>
              </a:rPr>
              <a:t>35 cm</a:t>
            </a:r>
            <a:endParaRPr lang="en-US" sz="4000" dirty="0"/>
          </a:p>
        </p:txBody>
      </p:sp>
      <p:sp>
        <p:nvSpPr>
          <p:cNvPr id="6" name="text-7"/>
          <p:cNvSpPr txBox="1"/>
          <p:nvPr/>
        </p:nvSpPr>
        <p:spPr>
          <a:xfrm>
            <a:off x="914400" y="3017520"/>
            <a:ext cx="2834640" cy="731520"/>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좁은 문에서 정면 대치</a:t>
            </a:r>
            <a:endParaRPr lang="en-US" sz="1800" dirty="0"/>
          </a:p>
        </p:txBody>
      </p:sp>
      <p:sp>
        <p:nvSpPr>
          <p:cNvPr id="7" name="text-8"/>
          <p:cNvSpPr txBox="1"/>
          <p:nvPr/>
        </p:nvSpPr>
        <p:spPr>
          <a:xfrm>
            <a:off x="914400" y="3794760"/>
            <a:ext cx="2834640" cy="1920240"/>
          </a:xfrm>
          <a:prstGeom prst="rect">
            <a:avLst/>
          </a:prstGeom>
          <a:noFill/>
          <a:ln/>
        </p:spPr>
        <p:txBody>
          <a:bodyPr wrap="square" lIns="0" tIns="0" rIns="0" bIns="0" rtlCol="0" anchor="t"/>
          <a:lstStyle/>
          <a:p>
            <a:pPr indent="0" marL="0">
              <a:lnSpc>
                <a:spcPct val="130000"/>
              </a:lnSpc>
              <a:buNone/>
            </a:pPr>
            <a:r>
              <a:rPr lang="en-US" sz="1500" dirty="0">
                <a:solidFill>
                  <a:srgbClr val="4A5568"/>
                </a:solidFill>
                <a:latin typeface="Malgun Gothic" pitchFamily="34" charset="0"/>
                <a:ea typeface="Malgun Gothic" pitchFamily="34" charset="-122"/>
                <a:cs typeface="Malgun Gothic" pitchFamily="34" charset="-120"/>
              </a:rPr>
              <a:t>각 Nav2는 상대를 LiDAR 장애물로만 본다. 문에서 만나면 양쪽 controller가 모두 진전 없음으로 실패한다.</a:t>
            </a:r>
            <a:endParaRPr lang="en-US" sz="1500" dirty="0"/>
          </a:p>
        </p:txBody>
      </p:sp>
      <p:sp>
        <p:nvSpPr>
          <p:cNvPr id="8" name="card-9"/>
          <p:cNvSpPr/>
          <p:nvPr/>
        </p:nvSpPr>
        <p:spPr>
          <a:xfrm>
            <a:off x="4315968" y="1737360"/>
            <a:ext cx="3557016" cy="4206240"/>
          </a:xfrm>
          <a:prstGeom prst="roundRect">
            <a:avLst>
              <a:gd name="adj" fmla="val 3085"/>
            </a:avLst>
          </a:prstGeom>
          <a:solidFill>
            <a:srgbClr val="F3F5F8"/>
          </a:solidFill>
          <a:ln w="9525">
            <a:solidFill>
              <a:srgbClr val="F3F5F8"/>
            </a:solidFill>
            <a:prstDash val="solid"/>
          </a:ln>
        </p:spPr>
      </p:sp>
      <p:sp>
        <p:nvSpPr>
          <p:cNvPr id="9" name="text-10"/>
          <p:cNvSpPr txBox="1"/>
          <p:nvPr/>
        </p:nvSpPr>
        <p:spPr>
          <a:xfrm>
            <a:off x="4681728" y="2057400"/>
            <a:ext cx="2834640" cy="822960"/>
          </a:xfrm>
          <a:prstGeom prst="rect">
            <a:avLst/>
          </a:prstGeom>
          <a:noFill/>
          <a:ln/>
        </p:spPr>
        <p:txBody>
          <a:bodyPr wrap="square" lIns="0" tIns="0" rIns="0" bIns="0" rtlCol="0" anchor="t"/>
          <a:lstStyle/>
          <a:p>
            <a:pPr indent="0" marL="0">
              <a:buNone/>
            </a:pPr>
            <a:r>
              <a:rPr lang="en-US" sz="4000" b="1" dirty="0">
                <a:solidFill>
                  <a:srgbClr val="D9822B"/>
                </a:solidFill>
                <a:latin typeface="Consolas" pitchFamily="34" charset="0"/>
                <a:ea typeface="Consolas" pitchFamily="34" charset="-122"/>
                <a:cs typeface="Consolas" pitchFamily="34" charset="-120"/>
              </a:rPr>
              <a:t>1대</a:t>
            </a:r>
            <a:endParaRPr lang="en-US" sz="4000" dirty="0"/>
          </a:p>
        </p:txBody>
      </p:sp>
      <p:sp>
        <p:nvSpPr>
          <p:cNvPr id="10" name="text-11"/>
          <p:cNvSpPr txBox="1"/>
          <p:nvPr/>
        </p:nvSpPr>
        <p:spPr>
          <a:xfrm>
            <a:off x="4681728" y="3017520"/>
            <a:ext cx="2834640" cy="731520"/>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제조사 스택은 단일 로봇 기준</a:t>
            </a:r>
            <a:endParaRPr lang="en-US" sz="1800" dirty="0"/>
          </a:p>
        </p:txBody>
      </p:sp>
      <p:sp>
        <p:nvSpPr>
          <p:cNvPr id="11" name="text-12"/>
          <p:cNvSpPr txBox="1"/>
          <p:nvPr/>
        </p:nvSpPr>
        <p:spPr>
          <a:xfrm>
            <a:off x="4681728" y="3794760"/>
            <a:ext cx="2834640" cy="1920240"/>
          </a:xfrm>
          <a:prstGeom prst="rect">
            <a:avLst/>
          </a:prstGeom>
          <a:noFill/>
          <a:ln/>
        </p:spPr>
        <p:txBody>
          <a:bodyPr wrap="square" lIns="0" tIns="0" rIns="0" bIns="0" rtlCol="0" anchor="t"/>
          <a:lstStyle/>
          <a:p>
            <a:pPr indent="0" marL="0">
              <a:lnSpc>
                <a:spcPct val="130000"/>
              </a:lnSpc>
              <a:buNone/>
            </a:pPr>
            <a:r>
              <a:rPr lang="en-US" sz="1500" dirty="0">
                <a:solidFill>
                  <a:srgbClr val="4A5568"/>
                </a:solidFill>
                <a:latin typeface="Malgun Gothic" pitchFamily="34" charset="0"/>
                <a:ea typeface="Malgun Gothic" pitchFamily="34" charset="-122"/>
                <a:cs typeface="Malgun Gothic" pitchFamily="34" charset="-120"/>
              </a:rPr>
              <a:t>토픽·TF 이름이 고정이라 두 대를 그대로 띄우면 이름이 충돌한다. 관제 화면도 없다.</a:t>
            </a:r>
            <a:endParaRPr lang="en-US" sz="1500" dirty="0"/>
          </a:p>
        </p:txBody>
      </p:sp>
      <p:sp>
        <p:nvSpPr>
          <p:cNvPr id="12" name="card-13"/>
          <p:cNvSpPr/>
          <p:nvPr/>
        </p:nvSpPr>
        <p:spPr>
          <a:xfrm>
            <a:off x="8083296" y="1737360"/>
            <a:ext cx="3557016" cy="4206240"/>
          </a:xfrm>
          <a:prstGeom prst="roundRect">
            <a:avLst>
              <a:gd name="adj" fmla="val 3085"/>
            </a:avLst>
          </a:prstGeom>
          <a:solidFill>
            <a:srgbClr val="F3F5F8"/>
          </a:solidFill>
          <a:ln w="9525">
            <a:solidFill>
              <a:srgbClr val="F3F5F8"/>
            </a:solidFill>
            <a:prstDash val="solid"/>
          </a:ln>
        </p:spPr>
      </p:sp>
      <p:sp>
        <p:nvSpPr>
          <p:cNvPr id="13" name="text-14"/>
          <p:cNvSpPr txBox="1"/>
          <p:nvPr/>
        </p:nvSpPr>
        <p:spPr>
          <a:xfrm>
            <a:off x="8449056" y="2057400"/>
            <a:ext cx="2834640" cy="822960"/>
          </a:xfrm>
          <a:prstGeom prst="rect">
            <a:avLst/>
          </a:prstGeom>
          <a:noFill/>
          <a:ln/>
        </p:spPr>
        <p:txBody>
          <a:bodyPr wrap="square" lIns="0" tIns="0" rIns="0" bIns="0" rtlCol="0" anchor="t"/>
          <a:lstStyle/>
          <a:p>
            <a:pPr indent="0" marL="0">
              <a:buNone/>
            </a:pPr>
            <a:r>
              <a:rPr lang="en-US" sz="4000" b="1" dirty="0">
                <a:solidFill>
                  <a:srgbClr val="D9822B"/>
                </a:solidFill>
                <a:latin typeface="Consolas" pitchFamily="34" charset="0"/>
                <a:ea typeface="Consolas" pitchFamily="34" charset="-122"/>
                <a:cs typeface="Consolas" pitchFamily="34" charset="-120"/>
              </a:rPr>
              <a:t>0</a:t>
            </a:r>
            <a:endParaRPr lang="en-US" sz="4000" dirty="0"/>
          </a:p>
        </p:txBody>
      </p:sp>
      <p:sp>
        <p:nvSpPr>
          <p:cNvPr id="14" name="text-15"/>
          <p:cNvSpPr txBox="1"/>
          <p:nvPr/>
        </p:nvSpPr>
        <p:spPr>
          <a:xfrm>
            <a:off x="8449056" y="3017520"/>
            <a:ext cx="2834640" cy="731520"/>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인터넷 없는 현장 AP</a:t>
            </a:r>
            <a:endParaRPr lang="en-US" sz="1800" dirty="0"/>
          </a:p>
        </p:txBody>
      </p:sp>
      <p:sp>
        <p:nvSpPr>
          <p:cNvPr id="15" name="text-16"/>
          <p:cNvSpPr txBox="1"/>
          <p:nvPr/>
        </p:nvSpPr>
        <p:spPr>
          <a:xfrm>
            <a:off x="8449056" y="3794760"/>
            <a:ext cx="2834640" cy="1920240"/>
          </a:xfrm>
          <a:prstGeom prst="rect">
            <a:avLst/>
          </a:prstGeom>
          <a:noFill/>
          <a:ln/>
        </p:spPr>
        <p:txBody>
          <a:bodyPr wrap="square" lIns="0" tIns="0" rIns="0" bIns="0" rtlCol="0" anchor="t"/>
          <a:lstStyle/>
          <a:p>
            <a:pPr indent="0" marL="0">
              <a:lnSpc>
                <a:spcPct val="130000"/>
              </a:lnSpc>
              <a:buNone/>
            </a:pPr>
            <a:r>
              <a:rPr lang="en-US" sz="1500" dirty="0">
                <a:solidFill>
                  <a:srgbClr val="4A5568"/>
                </a:solidFill>
                <a:latin typeface="Malgun Gothic" pitchFamily="34" charset="0"/>
                <a:ea typeface="Malgun Gothic" pitchFamily="34" charset="-122"/>
                <a:cs typeface="Malgun Gothic" pitchFamily="34" charset="-120"/>
              </a:rPr>
              <a:t>NTP 동기화가 안 되고 DDS 멀티캐스트도 막힌다. 시계와 노드 탐색을 직접 풀어야 한다.</a:t>
            </a:r>
            <a:endParaRPr lang="en-US" sz="15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01 · 목표</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목표마다 하나의 설계 결정으로 답했다</a:t>
            </a:r>
            <a:endParaRPr lang="en-US" sz="2800" dirty="0"/>
          </a:p>
        </p:txBody>
      </p:sp>
      <p:graphicFrame>
        <p:nvGraphicFramePr>
          <p:cNvPr id="4" name="table-17"/>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91840"/>
                <a:gridCol w="7802575"/>
              </a:tblGrid>
              <a:tr h="566928">
                <a:tc>
                  <a:txBody>
                    <a:bodyP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목표</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구현 방식</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r>
              <a:tr h="566928">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두 로봇 동시 자율주행</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로봇마다 독립 Nav2 스택을 PC에서 실행, ROS 도메인으로 격리</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충돌 없는 교차</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관제 계층 교통 정리: v1 칸 열쇠 → v2 경로 기반 양보</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66928">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단일 관제 화면</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Python 단일 프로세스 + REST + 정적 웹 페이지</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임의 위치에서 시작</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AMCL 전역 추정 + 제자리 회전 + 공분산 수렴 판정</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66928">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시뮬 = 실물</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같은 지도·같은 코드, 도메인만 다름 (시뮬 25/27 · 실물 15/17)</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
        <p:nvSpPr>
          <p:cNvPr id="5" name="text-18"/>
          <p:cNvSpPr txBox="1"/>
          <p:nvPr/>
        </p:nvSpPr>
        <p:spPr>
          <a:xfrm>
            <a:off x="548640" y="5440680"/>
            <a:ext cx="11094415" cy="365760"/>
          </a:xfrm>
          <a:prstGeom prst="rect">
            <a:avLst/>
          </a:prstGeom>
          <a:noFill/>
          <a:ln/>
        </p:spPr>
        <p:txBody>
          <a:bodyPr wrap="square" lIns="0" tIns="0" rIns="0" bIns="0" rtlCol="0" anchor="t"/>
          <a:lstStyle/>
          <a:p>
            <a:pPr indent="0" marL="0">
              <a:buNone/>
            </a:pPr>
            <a:r>
              <a:rPr lang="en-US" sz="1400" dirty="0">
                <a:solidFill>
                  <a:srgbClr val="4A5568"/>
                </a:solidFill>
                <a:latin typeface="Malgun Gothic" pitchFamily="34" charset="0"/>
                <a:ea typeface="Malgun Gothic" pitchFamily="34" charset="-122"/>
                <a:cs typeface="Malgun Gothic" pitchFamily="34" charset="-120"/>
              </a:rPr>
              <a:t>범위 밖: 카메라 · 객체 인식 · 차선 주행 (별도 개발 중)</a:t>
            </a:r>
            <a:endParaRPr lang="en-US" sz="14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02 · 아키텍처</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Nav2는 로봇이 아니라 PC에서 돈다</a:t>
            </a:r>
            <a:endParaRPr lang="en-US" sz="2800" dirty="0"/>
          </a:p>
        </p:txBody>
      </p:sp>
      <p:sp>
        <p:nvSpPr>
          <p:cNvPr id="4" name="card-19"/>
          <p:cNvSpPr/>
          <p:nvPr/>
        </p:nvSpPr>
        <p:spPr>
          <a:xfrm>
            <a:off x="548640" y="1691640"/>
            <a:ext cx="6949440" cy="713232"/>
          </a:xfrm>
          <a:prstGeom prst="roundRect">
            <a:avLst>
              <a:gd name="adj" fmla="val 15385"/>
            </a:avLst>
          </a:prstGeom>
          <a:solidFill>
            <a:srgbClr val="EDE7F6"/>
          </a:solidFill>
          <a:ln w="19050">
            <a:solidFill>
              <a:srgbClr val="6B4FA5"/>
            </a:solidFill>
            <a:prstDash val="solid"/>
          </a:ln>
        </p:spPr>
      </p:sp>
      <p:sp>
        <p:nvSpPr>
          <p:cNvPr id="5" name="text-20"/>
          <p:cNvSpPr txBox="1"/>
          <p:nvPr/>
        </p:nvSpPr>
        <p:spPr>
          <a:xfrm>
            <a:off x="777240" y="1783080"/>
            <a:ext cx="6492240" cy="320040"/>
          </a:xfrm>
          <a:prstGeom prst="rect">
            <a:avLst/>
          </a:prstGeom>
          <a:noFill/>
          <a:ln/>
        </p:spPr>
        <p:txBody>
          <a:bodyPr wrap="square" lIns="0" tIns="0" rIns="0" bIns="0" rtlCol="0" anchor="t"/>
          <a:lstStyle/>
          <a:p>
            <a:pPr indent="0" marL="0">
              <a:buNone/>
            </a:pPr>
            <a:r>
              <a:rPr lang="en-US" sz="1500" b="1" dirty="0">
                <a:solidFill>
                  <a:srgbClr val="14213D"/>
                </a:solidFill>
                <a:latin typeface="Malgun Gothic" pitchFamily="34" charset="0"/>
                <a:ea typeface="Malgun Gothic" pitchFamily="34" charset="-122"/>
                <a:cs typeface="Malgun Gothic" pitchFamily="34" charset="-120"/>
              </a:rPr>
              <a:t>Browser · web/fleet.html</a:t>
            </a:r>
            <a:endParaRPr lang="en-US" sz="1500" dirty="0"/>
          </a:p>
        </p:txBody>
      </p:sp>
      <p:sp>
        <p:nvSpPr>
          <p:cNvPr id="6" name="text-21"/>
          <p:cNvSpPr txBox="1"/>
          <p:nvPr/>
        </p:nvSpPr>
        <p:spPr>
          <a:xfrm>
            <a:off x="777240" y="2084832"/>
            <a:ext cx="6492240" cy="274320"/>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GET /api/state 500 ms 폴링 · POST /api/robots/&lt;id&gt;/&lt;action&gt;</a:t>
            </a:r>
            <a:endParaRPr lang="en-US" sz="1200" dirty="0"/>
          </a:p>
        </p:txBody>
      </p:sp>
      <p:sp>
        <p:nvSpPr>
          <p:cNvPr id="7" name="text-22"/>
          <p:cNvSpPr txBox="1"/>
          <p:nvPr/>
        </p:nvSpPr>
        <p:spPr>
          <a:xfrm>
            <a:off x="548640" y="2423160"/>
            <a:ext cx="6949440" cy="274320"/>
          </a:xfrm>
          <a:prstGeom prst="rect">
            <a:avLst/>
          </a:prstGeom>
          <a:noFill/>
          <a:ln/>
        </p:spPr>
        <p:txBody>
          <a:bodyPr wrap="square" lIns="0" tIns="0" rIns="0" bIns="0" rtlCol="0" anchor="ctr"/>
          <a:lstStyle/>
          <a:p>
            <a:pPr algn="ctr" indent="0" marL="0">
              <a:buNone/>
            </a:pPr>
            <a:r>
              <a:rPr lang="en-US" sz="1100" dirty="0">
                <a:solidFill>
                  <a:srgbClr val="8A94A6"/>
                </a:solidFill>
                <a:latin typeface="Malgun Gothic" pitchFamily="34" charset="0"/>
                <a:ea typeface="Malgun Gothic" pitchFamily="34" charset="-122"/>
                <a:cs typeface="Malgun Gothic" pitchFamily="34" charset="-120"/>
              </a:rPr>
              <a:t>▼  JSON</a:t>
            </a:r>
            <a:endParaRPr lang="en-US" sz="1100" dirty="0"/>
          </a:p>
        </p:txBody>
      </p:sp>
      <p:sp>
        <p:nvSpPr>
          <p:cNvPr id="8" name="card-23"/>
          <p:cNvSpPr/>
          <p:nvPr/>
        </p:nvSpPr>
        <p:spPr>
          <a:xfrm>
            <a:off x="548640" y="2724912"/>
            <a:ext cx="6949440" cy="713232"/>
          </a:xfrm>
          <a:prstGeom prst="roundRect">
            <a:avLst>
              <a:gd name="adj" fmla="val 15385"/>
            </a:avLst>
          </a:prstGeom>
          <a:solidFill>
            <a:srgbClr val="E6F2EA"/>
          </a:solidFill>
          <a:ln w="19050">
            <a:solidFill>
              <a:srgbClr val="2E7D4F"/>
            </a:solidFill>
            <a:prstDash val="solid"/>
          </a:ln>
        </p:spPr>
      </p:sp>
      <p:sp>
        <p:nvSpPr>
          <p:cNvPr id="9" name="text-24"/>
          <p:cNvSpPr txBox="1"/>
          <p:nvPr/>
        </p:nvSpPr>
        <p:spPr>
          <a:xfrm>
            <a:off x="777240" y="2816352"/>
            <a:ext cx="6492240" cy="320040"/>
          </a:xfrm>
          <a:prstGeom prst="rect">
            <a:avLst/>
          </a:prstGeom>
          <a:noFill/>
          <a:ln/>
        </p:spPr>
        <p:txBody>
          <a:bodyPr wrap="square" lIns="0" tIns="0" rIns="0" bIns="0" rtlCol="0" anchor="t"/>
          <a:lstStyle/>
          <a:p>
            <a:pPr indent="0" marL="0">
              <a:buNone/>
            </a:pPr>
            <a:r>
              <a:rPr lang="en-US" sz="1500" b="1" dirty="0">
                <a:solidFill>
                  <a:srgbClr val="14213D"/>
                </a:solidFill>
                <a:latin typeface="Malgun Gothic" pitchFamily="34" charset="0"/>
                <a:ea typeface="Malgun Gothic" pitchFamily="34" charset="-122"/>
                <a:cs typeface="Malgun Gothic" pitchFamily="34" charset="-120"/>
              </a:rPr>
              <a:t>fleet_dashboard (Python 1 프로세스)</a:t>
            </a:r>
            <a:endParaRPr lang="en-US" sz="1500" dirty="0"/>
          </a:p>
        </p:txBody>
      </p:sp>
      <p:sp>
        <p:nvSpPr>
          <p:cNvPr id="10" name="text-25"/>
          <p:cNvSpPr txBox="1"/>
          <p:nvPr/>
        </p:nvSpPr>
        <p:spPr>
          <a:xfrm>
            <a:off x="777240" y="3118104"/>
            <a:ext cx="6492240" cy="274320"/>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HTTP 서버 · Robot(Node)×2 · 교통 스레드 0.2 s · Localizer</a:t>
            </a:r>
            <a:endParaRPr lang="en-US" sz="1200" dirty="0"/>
          </a:p>
        </p:txBody>
      </p:sp>
      <p:sp>
        <p:nvSpPr>
          <p:cNvPr id="11" name="text-26"/>
          <p:cNvSpPr txBox="1"/>
          <p:nvPr/>
        </p:nvSpPr>
        <p:spPr>
          <a:xfrm>
            <a:off x="548640" y="3456432"/>
            <a:ext cx="6949440" cy="274320"/>
          </a:xfrm>
          <a:prstGeom prst="rect">
            <a:avLst/>
          </a:prstGeom>
          <a:noFill/>
          <a:ln/>
        </p:spPr>
        <p:txBody>
          <a:bodyPr wrap="square" lIns="0" tIns="0" rIns="0" bIns="0" rtlCol="0" anchor="ctr"/>
          <a:lstStyle/>
          <a:p>
            <a:pPr algn="ctr" indent="0" marL="0">
              <a:buNone/>
            </a:pPr>
            <a:r>
              <a:rPr lang="en-US" sz="1100" dirty="0">
                <a:solidFill>
                  <a:srgbClr val="8A94A6"/>
                </a:solidFill>
                <a:latin typeface="Malgun Gothic" pitchFamily="34" charset="0"/>
                <a:ea typeface="Malgun Gothic" pitchFamily="34" charset="-122"/>
                <a:cs typeface="Malgun Gothic" pitchFamily="34" charset="-120"/>
              </a:rPr>
              <a:t>▼  navigate_to_pose · backup · plan · amcl_pose</a:t>
            </a:r>
            <a:endParaRPr lang="en-US" sz="1100" dirty="0"/>
          </a:p>
        </p:txBody>
      </p:sp>
      <p:sp>
        <p:nvSpPr>
          <p:cNvPr id="12" name="card-27"/>
          <p:cNvSpPr/>
          <p:nvPr/>
        </p:nvSpPr>
        <p:spPr>
          <a:xfrm>
            <a:off x="548640" y="3758184"/>
            <a:ext cx="3383280" cy="713232"/>
          </a:xfrm>
          <a:prstGeom prst="roundRect">
            <a:avLst>
              <a:gd name="adj" fmla="val 15385"/>
            </a:avLst>
          </a:prstGeom>
          <a:solidFill>
            <a:srgbClr val="E6F2EA"/>
          </a:solidFill>
          <a:ln w="19050">
            <a:solidFill>
              <a:srgbClr val="2E7D4F"/>
            </a:solidFill>
            <a:prstDash val="solid"/>
          </a:ln>
        </p:spPr>
      </p:sp>
      <p:sp>
        <p:nvSpPr>
          <p:cNvPr id="13" name="text-28"/>
          <p:cNvSpPr txBox="1"/>
          <p:nvPr/>
        </p:nvSpPr>
        <p:spPr>
          <a:xfrm>
            <a:off x="777240" y="3849624"/>
            <a:ext cx="2926080" cy="320040"/>
          </a:xfrm>
          <a:prstGeom prst="rect">
            <a:avLst/>
          </a:prstGeom>
          <a:noFill/>
          <a:ln/>
        </p:spPr>
        <p:txBody>
          <a:bodyPr wrap="square" lIns="0" tIns="0" rIns="0" bIns="0" rtlCol="0" anchor="t"/>
          <a:lstStyle/>
          <a:p>
            <a:pPr indent="0" marL="0">
              <a:buNone/>
            </a:pPr>
            <a:r>
              <a:rPr lang="en-US" sz="1500" b="1" dirty="0">
                <a:solidFill>
                  <a:srgbClr val="14213D"/>
                </a:solidFill>
                <a:latin typeface="Malgun Gothic" pitchFamily="34" charset="0"/>
                <a:ea typeface="Malgun Gothic" pitchFamily="34" charset="-122"/>
                <a:cs typeface="Malgun Gothic" pitchFamily="34" charset="-120"/>
              </a:rPr>
              <a:t>Nav2 · domain 15</a:t>
            </a:r>
            <a:endParaRPr lang="en-US" sz="1500" dirty="0"/>
          </a:p>
        </p:txBody>
      </p:sp>
      <p:sp>
        <p:nvSpPr>
          <p:cNvPr id="14" name="text-29"/>
          <p:cNvSpPr txBox="1"/>
          <p:nvPr/>
        </p:nvSpPr>
        <p:spPr>
          <a:xfrm>
            <a:off x="777240" y="4151376"/>
            <a:ext cx="2926080" cy="274320"/>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AMCL · NavFn · RPP</a:t>
            </a:r>
            <a:endParaRPr lang="en-US" sz="1200" dirty="0"/>
          </a:p>
        </p:txBody>
      </p:sp>
      <p:sp>
        <p:nvSpPr>
          <p:cNvPr id="15" name="card-30"/>
          <p:cNvSpPr/>
          <p:nvPr/>
        </p:nvSpPr>
        <p:spPr>
          <a:xfrm>
            <a:off x="4114800" y="3758184"/>
            <a:ext cx="3383280" cy="713232"/>
          </a:xfrm>
          <a:prstGeom prst="roundRect">
            <a:avLst>
              <a:gd name="adj" fmla="val 15385"/>
            </a:avLst>
          </a:prstGeom>
          <a:solidFill>
            <a:srgbClr val="E6F2EA"/>
          </a:solidFill>
          <a:ln w="19050">
            <a:solidFill>
              <a:srgbClr val="2E7D4F"/>
            </a:solidFill>
            <a:prstDash val="solid"/>
          </a:ln>
        </p:spPr>
      </p:sp>
      <p:sp>
        <p:nvSpPr>
          <p:cNvPr id="16" name="text-31"/>
          <p:cNvSpPr txBox="1"/>
          <p:nvPr/>
        </p:nvSpPr>
        <p:spPr>
          <a:xfrm>
            <a:off x="4343400" y="3849624"/>
            <a:ext cx="2926080" cy="320040"/>
          </a:xfrm>
          <a:prstGeom prst="rect">
            <a:avLst/>
          </a:prstGeom>
          <a:noFill/>
          <a:ln/>
        </p:spPr>
        <p:txBody>
          <a:bodyPr wrap="square" lIns="0" tIns="0" rIns="0" bIns="0" rtlCol="0" anchor="t"/>
          <a:lstStyle/>
          <a:p>
            <a:pPr indent="0" marL="0">
              <a:buNone/>
            </a:pPr>
            <a:r>
              <a:rPr lang="en-US" sz="1500" b="1" dirty="0">
                <a:solidFill>
                  <a:srgbClr val="14213D"/>
                </a:solidFill>
                <a:latin typeface="Malgun Gothic" pitchFamily="34" charset="0"/>
                <a:ea typeface="Malgun Gothic" pitchFamily="34" charset="-122"/>
                <a:cs typeface="Malgun Gothic" pitchFamily="34" charset="-120"/>
              </a:rPr>
              <a:t>Nav2 · domain 17</a:t>
            </a:r>
            <a:endParaRPr lang="en-US" sz="1500" dirty="0"/>
          </a:p>
        </p:txBody>
      </p:sp>
      <p:sp>
        <p:nvSpPr>
          <p:cNvPr id="17" name="text-32"/>
          <p:cNvSpPr txBox="1"/>
          <p:nvPr/>
        </p:nvSpPr>
        <p:spPr>
          <a:xfrm>
            <a:off x="4343400" y="4151376"/>
            <a:ext cx="2926080" cy="274320"/>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같은 params 파일</a:t>
            </a:r>
            <a:endParaRPr lang="en-US" sz="1200" dirty="0"/>
          </a:p>
        </p:txBody>
      </p:sp>
      <p:sp>
        <p:nvSpPr>
          <p:cNvPr id="18" name="text-33"/>
          <p:cNvSpPr txBox="1"/>
          <p:nvPr/>
        </p:nvSpPr>
        <p:spPr>
          <a:xfrm>
            <a:off x="548640" y="4489704"/>
            <a:ext cx="6949440" cy="274320"/>
          </a:xfrm>
          <a:prstGeom prst="rect">
            <a:avLst/>
          </a:prstGeom>
          <a:noFill/>
          <a:ln/>
        </p:spPr>
        <p:txBody>
          <a:bodyPr wrap="square" lIns="0" tIns="0" rIns="0" bIns="0" rtlCol="0" anchor="ctr"/>
          <a:lstStyle/>
          <a:p>
            <a:pPr algn="ctr" indent="0" marL="0">
              <a:buNone/>
            </a:pPr>
            <a:r>
              <a:rPr lang="en-US" sz="1100" dirty="0">
                <a:solidFill>
                  <a:srgbClr val="8A94A6"/>
                </a:solidFill>
                <a:latin typeface="Malgun Gothic" pitchFamily="34" charset="0"/>
                <a:ea typeface="Malgun Gothic" pitchFamily="34" charset="-122"/>
                <a:cs typeface="Malgun Gothic" pitchFamily="34" charset="-120"/>
              </a:rPr>
              <a:t>▲ /scan /odom /tf    ▼ cmd_vel    (AP · 유니캐스트 peer)</a:t>
            </a:r>
            <a:endParaRPr lang="en-US" sz="1100" dirty="0"/>
          </a:p>
        </p:txBody>
      </p:sp>
      <p:sp>
        <p:nvSpPr>
          <p:cNvPr id="19" name="card-34"/>
          <p:cNvSpPr/>
          <p:nvPr/>
        </p:nvSpPr>
        <p:spPr>
          <a:xfrm>
            <a:off x="548640" y="4791456"/>
            <a:ext cx="3383280" cy="457200"/>
          </a:xfrm>
          <a:prstGeom prst="roundRect">
            <a:avLst>
              <a:gd name="adj" fmla="val 24000"/>
            </a:avLst>
          </a:prstGeom>
          <a:solidFill>
            <a:srgbClr val="E8EEF8"/>
          </a:solidFill>
          <a:ln w="19050">
            <a:solidFill>
              <a:srgbClr val="2F6FDB"/>
            </a:solidFill>
            <a:prstDash val="solid"/>
          </a:ln>
        </p:spPr>
      </p:sp>
      <p:sp>
        <p:nvSpPr>
          <p:cNvPr id="20" name="text-35"/>
          <p:cNvSpPr txBox="1"/>
          <p:nvPr/>
        </p:nvSpPr>
        <p:spPr>
          <a:xfrm>
            <a:off x="777240" y="4882896"/>
            <a:ext cx="2926080" cy="320040"/>
          </a:xfrm>
          <a:prstGeom prst="rect">
            <a:avLst/>
          </a:prstGeom>
          <a:noFill/>
          <a:ln/>
        </p:spPr>
        <p:txBody>
          <a:bodyPr wrap="square" lIns="0" tIns="0" rIns="0" bIns="0" rtlCol="0" anchor="t"/>
          <a:lstStyle/>
          <a:p>
            <a:pPr indent="0" marL="0">
              <a:buNone/>
            </a:pPr>
            <a:r>
              <a:rPr lang="en-US" sz="1500" b="1" dirty="0">
                <a:solidFill>
                  <a:srgbClr val="14213D"/>
                </a:solidFill>
                <a:latin typeface="Malgun Gothic" pitchFamily="34" charset="0"/>
                <a:ea typeface="Malgun Gothic" pitchFamily="34" charset="-122"/>
                <a:cs typeface="Malgun Gothic" pitchFamily="34" charset="-120"/>
              </a:rPr>
              <a:t>robot1 · pinky_bringup</a:t>
            </a:r>
            <a:endParaRPr lang="en-US" sz="1500" dirty="0"/>
          </a:p>
        </p:txBody>
      </p:sp>
      <p:sp>
        <p:nvSpPr>
          <p:cNvPr id="21" name="card-36"/>
          <p:cNvSpPr/>
          <p:nvPr/>
        </p:nvSpPr>
        <p:spPr>
          <a:xfrm>
            <a:off x="4114800" y="4791456"/>
            <a:ext cx="3383280" cy="457200"/>
          </a:xfrm>
          <a:prstGeom prst="roundRect">
            <a:avLst>
              <a:gd name="adj" fmla="val 24000"/>
            </a:avLst>
          </a:prstGeom>
          <a:solidFill>
            <a:srgbClr val="E8EEF8"/>
          </a:solidFill>
          <a:ln w="19050">
            <a:solidFill>
              <a:srgbClr val="2F6FDB"/>
            </a:solidFill>
            <a:prstDash val="solid"/>
          </a:ln>
        </p:spPr>
      </p:sp>
      <p:sp>
        <p:nvSpPr>
          <p:cNvPr id="22" name="text-37"/>
          <p:cNvSpPr txBox="1"/>
          <p:nvPr/>
        </p:nvSpPr>
        <p:spPr>
          <a:xfrm>
            <a:off x="4343400" y="4882896"/>
            <a:ext cx="2926080" cy="320040"/>
          </a:xfrm>
          <a:prstGeom prst="rect">
            <a:avLst/>
          </a:prstGeom>
          <a:noFill/>
          <a:ln/>
        </p:spPr>
        <p:txBody>
          <a:bodyPr wrap="square" lIns="0" tIns="0" rIns="0" bIns="0" rtlCol="0" anchor="t"/>
          <a:lstStyle/>
          <a:p>
            <a:pPr indent="0" marL="0">
              <a:buNone/>
            </a:pPr>
            <a:r>
              <a:rPr lang="en-US" sz="1500" b="1" dirty="0">
                <a:solidFill>
                  <a:srgbClr val="14213D"/>
                </a:solidFill>
                <a:latin typeface="Malgun Gothic" pitchFamily="34" charset="0"/>
                <a:ea typeface="Malgun Gothic" pitchFamily="34" charset="-122"/>
                <a:cs typeface="Malgun Gothic" pitchFamily="34" charset="-120"/>
              </a:rPr>
              <a:t>robot2 · pinky_bringup</a:t>
            </a:r>
            <a:endParaRPr lang="en-US" sz="1500" dirty="0"/>
          </a:p>
        </p:txBody>
      </p:sp>
      <p:sp>
        <p:nvSpPr>
          <p:cNvPr id="23" name="text-38"/>
          <p:cNvSpPr txBox="1"/>
          <p:nvPr/>
        </p:nvSpPr>
        <p:spPr>
          <a:xfrm>
            <a:off x="8001000" y="1828800"/>
            <a:ext cx="3639312" cy="365760"/>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로봇은 bringup만</a:t>
            </a:r>
            <a:endParaRPr lang="en-US" sz="1800" dirty="0"/>
          </a:p>
        </p:txBody>
      </p:sp>
      <p:sp>
        <p:nvSpPr>
          <p:cNvPr id="24" name="text-39"/>
          <p:cNvSpPr txBox="1"/>
          <p:nvPr/>
        </p:nvSpPr>
        <p:spPr>
          <a:xfrm>
            <a:off x="8001000" y="2212848"/>
            <a:ext cx="3639312" cy="640080"/>
          </a:xfrm>
          <a:prstGeom prst="rect">
            <a:avLst/>
          </a:prstGeom>
          <a:noFill/>
          <a:ln/>
        </p:spPr>
        <p:txBody>
          <a:bodyPr wrap="square" lIns="0" tIns="0" rIns="0" bIns="0" rtlCol="0" anchor="t"/>
          <a:lstStyle/>
          <a:p>
            <a:pPr indent="0" marL="0">
              <a:lnSpc>
                <a:spcPct val="125000"/>
              </a:lnSpc>
              <a:buNone/>
            </a:pPr>
            <a:r>
              <a:rPr lang="en-US" sz="1400" dirty="0">
                <a:solidFill>
                  <a:srgbClr val="4A5568"/>
                </a:solidFill>
                <a:latin typeface="Malgun Gothic" pitchFamily="34" charset="0"/>
                <a:ea typeface="Malgun Gothic" pitchFamily="34" charset="-122"/>
                <a:cs typeface="Malgun Gothic" pitchFamily="34" charset="-120"/>
              </a:rPr>
              <a:t>모터 · LiDAR · odom · TF. 제조사 코드 수정 없음</a:t>
            </a:r>
            <a:endParaRPr lang="en-US" sz="1400" dirty="0"/>
          </a:p>
        </p:txBody>
      </p:sp>
      <p:sp>
        <p:nvSpPr>
          <p:cNvPr id="25" name="text-40"/>
          <p:cNvSpPr txBox="1"/>
          <p:nvPr/>
        </p:nvSpPr>
        <p:spPr>
          <a:xfrm>
            <a:off x="8001000" y="3017520"/>
            <a:ext cx="3639312" cy="365760"/>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PC가 계산을 전부</a:t>
            </a:r>
            <a:endParaRPr lang="en-US" sz="1800" dirty="0"/>
          </a:p>
        </p:txBody>
      </p:sp>
      <p:sp>
        <p:nvSpPr>
          <p:cNvPr id="26" name="text-41"/>
          <p:cNvSpPr txBox="1"/>
          <p:nvPr/>
        </p:nvSpPr>
        <p:spPr>
          <a:xfrm>
            <a:off x="8001000" y="3401568"/>
            <a:ext cx="3639312" cy="640080"/>
          </a:xfrm>
          <a:prstGeom prst="rect">
            <a:avLst/>
          </a:prstGeom>
          <a:noFill/>
          <a:ln/>
        </p:spPr>
        <p:txBody>
          <a:bodyPr wrap="square" lIns="0" tIns="0" rIns="0" bIns="0" rtlCol="0" anchor="t"/>
          <a:lstStyle/>
          <a:p>
            <a:pPr indent="0" marL="0">
              <a:lnSpc>
                <a:spcPct val="125000"/>
              </a:lnSpc>
              <a:buNone/>
            </a:pPr>
            <a:r>
              <a:rPr lang="en-US" sz="1400" dirty="0">
                <a:solidFill>
                  <a:srgbClr val="4A5568"/>
                </a:solidFill>
                <a:latin typeface="Malgun Gothic" pitchFamily="34" charset="0"/>
                <a:ea typeface="Malgun Gothic" pitchFamily="34" charset="-122"/>
                <a:cs typeface="Malgun Gothic" pitchFamily="34" charset="-120"/>
              </a:rPr>
              <a:t>두 Nav2의 계획 경로를 관제가 같은 프로세스에서 바로 비교</a:t>
            </a:r>
            <a:endParaRPr lang="en-US" sz="1400" dirty="0"/>
          </a:p>
        </p:txBody>
      </p:sp>
      <p:sp>
        <p:nvSpPr>
          <p:cNvPr id="27" name="text-42"/>
          <p:cNvSpPr txBox="1"/>
          <p:nvPr/>
        </p:nvSpPr>
        <p:spPr>
          <a:xfrm>
            <a:off x="8001000" y="4206240"/>
            <a:ext cx="3639312" cy="365760"/>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하나 죽으면 전체 종료</a:t>
            </a:r>
            <a:endParaRPr lang="en-US" sz="1800" dirty="0"/>
          </a:p>
        </p:txBody>
      </p:sp>
      <p:sp>
        <p:nvSpPr>
          <p:cNvPr id="28" name="text-43"/>
          <p:cNvSpPr txBox="1"/>
          <p:nvPr/>
        </p:nvSpPr>
        <p:spPr>
          <a:xfrm>
            <a:off x="8001000" y="4590288"/>
            <a:ext cx="3639312" cy="640080"/>
          </a:xfrm>
          <a:prstGeom prst="rect">
            <a:avLst/>
          </a:prstGeom>
          <a:noFill/>
          <a:ln/>
        </p:spPr>
        <p:txBody>
          <a:bodyPr wrap="square" lIns="0" tIns="0" rIns="0" bIns="0" rtlCol="0" anchor="t"/>
          <a:lstStyle/>
          <a:p>
            <a:pPr indent="0" marL="0">
              <a:lnSpc>
                <a:spcPct val="125000"/>
              </a:lnSpc>
              <a:buNone/>
            </a:pPr>
            <a:r>
              <a:rPr lang="en-US" sz="1400" dirty="0">
                <a:solidFill>
                  <a:srgbClr val="4A5568"/>
                </a:solidFill>
                <a:latin typeface="Malgun Gothic" pitchFamily="34" charset="0"/>
                <a:ea typeface="Malgun Gothic" pitchFamily="34" charset="-122"/>
                <a:cs typeface="Malgun Gothic" pitchFamily="34" charset="-120"/>
              </a:rPr>
              <a:t>launch의 OnProcessExit → Shutdown, 종료 시 0 속도</a:t>
            </a:r>
            <a:endParaRPr lang="en-US" sz="14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02 · 멀티 로봇 격리</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네임스페이스 대신 로봇마다 ROS 도메인</a:t>
            </a:r>
            <a:endParaRPr lang="en-US" sz="2800" dirty="0"/>
          </a:p>
        </p:txBody>
      </p:sp>
      <p:graphicFrame>
        <p:nvGraphicFramePr>
          <p:cNvPr id="6" name="table-44"/>
          <p:cNvGraphicFramePr>
            <a:graphicFrameLocks noGrp="1"/>
          </p:cNvGraphicFramePr>
          <p:nvPr>
            <p:extLst>
              <p:ext uri="{D42A27DB-BD31-4B8C-83A1-F6EECF244321}">
                <p14:modId xmlns:p14="http://schemas.microsoft.com/office/powerpoint/2010/main" val="1579011935"/>
              </p:ext>
            </p:extLst>
          </p:nvPr>
        </p:nvGraphicFramePr>
        <p:xfrm>
          <a:off x="548640" y="1737360"/>
          <a:ext cx="6309360" cy="914400"/>
        </p:xfrm>
        <a:graphic>
          <a:graphicData uri="http://schemas.openxmlformats.org/drawingml/2006/table">
            <a:tbl>
              <a:tblPr/>
              <a:tblGrid>
                <a:gridCol w="1371600"/>
                <a:gridCol w="2377440"/>
                <a:gridCol w="2560320"/>
              </a:tblGrid>
              <a:tr h="640080">
                <a:tc>
                  <a:txBody>
                    <a:bodyPr/>
                    <a:lstStyle/>
                    <a:p>
                      <a:pPr indent="0" marL="0">
                        <a:buNone/>
                      </a:pP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/robotN 네임스페이스</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도메인 분리 (채택)</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r>
              <a:tr h="64008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제조사 코드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bringup·URDF·TF 모두 수정</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b="1" dirty="0">
                          <a:solidFill>
                            <a:srgbClr val="14213D"/>
                          </a:solidFill>
                          <a:latin typeface="Malgun Gothic" pitchFamily="34" charset="0"/>
                          <a:ea typeface="Malgun Gothic" pitchFamily="34" charset="-122"/>
                          <a:cs typeface="Malgun Gothic" pitchFamily="34" charset="-120"/>
                        </a:rPr>
                        <a:t>수정 없음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Nav2 설정</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로봇별 params · remap</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같은 파일을 두 번 실행</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64008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간섭</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같은 DDS 그래프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DDS 수준에서 완전 분리</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대가</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관제가 두 도메인에 동시 참여</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bl>
          </a:graphicData>
        </a:graphic>
      </p:graphicFrame>
      <p:sp>
        <p:nvSpPr>
          <p:cNvPr id="5" name="text-45"/>
          <p:cNvSpPr txBox="1"/>
          <p:nvPr/>
        </p:nvSpPr>
        <p:spPr>
          <a:xfrm>
            <a:off x="7178040" y="1737360"/>
            <a:ext cx="4462272" cy="365760"/>
          </a:xfrm>
          <a:prstGeom prst="rect">
            <a:avLst/>
          </a:prstGeom>
          <a:noFill/>
          <a:ln/>
        </p:spPr>
        <p:txBody>
          <a:bodyPr wrap="square" lIns="0" tIns="0" rIns="0" bIns="0" rtlCol="0" anchor="t"/>
          <a:lstStyle/>
          <a:p>
            <a:pPr indent="0" marL="0">
              <a:buNone/>
            </a:pPr>
            <a:r>
              <a:rPr lang="en-US" sz="1500" dirty="0">
                <a:solidFill>
                  <a:srgbClr val="4A5568"/>
                </a:solidFill>
                <a:latin typeface="Malgun Gothic" pitchFamily="34" charset="0"/>
                <a:ea typeface="Malgun Gothic" pitchFamily="34" charset="-122"/>
                <a:cs typeface="Malgun Gothic" pitchFamily="34" charset="-120"/>
              </a:rPr>
              <a:t>대가는 rclpy </a:t>
            </a:r>
            <a:pPr indent="0" marL="0">
              <a:buNone/>
            </a:pPr>
            <a:r>
              <a:rPr lang="en-US" sz="1500" b="1" dirty="0">
                <a:solidFill>
                  <a:srgbClr val="4A5568"/>
                </a:solidFill>
                <a:latin typeface="Malgun Gothic" pitchFamily="34" charset="0"/>
                <a:ea typeface="Malgun Gothic" pitchFamily="34" charset="-122"/>
                <a:cs typeface="Malgun Gothic" pitchFamily="34" charset="-120"/>
              </a:rPr>
              <a:t>Context</a:t>
            </a:r>
            <a:pPr indent="0" marL="0">
              <a:buNone/>
            </a:pPr>
            <a:r>
              <a:rPr lang="en-US" sz="1500" dirty="0">
                <a:solidFill>
                  <a:srgbClr val="4A5568"/>
                </a:solidFill>
                <a:latin typeface="Malgun Gothic" pitchFamily="34" charset="0"/>
                <a:ea typeface="Malgun Gothic" pitchFamily="34" charset="-122"/>
                <a:cs typeface="Malgun Gothic" pitchFamily="34" charset="-120"/>
              </a:rPr>
              <a:t>를 로봇마다 따로 만들어 해결</a:t>
            </a:r>
            <a:endParaRPr lang="en-US" sz="1500" dirty="0"/>
          </a:p>
        </p:txBody>
      </p:sp>
      <p:sp>
        <p:nvSpPr>
          <p:cNvPr id="6" name="card-46"/>
          <p:cNvSpPr/>
          <p:nvPr/>
        </p:nvSpPr>
        <p:spPr>
          <a:xfrm>
            <a:off x="7178040" y="2240280"/>
            <a:ext cx="4462272" cy="2743200"/>
          </a:xfrm>
          <a:prstGeom prst="roundRect">
            <a:avLst>
              <a:gd name="adj" fmla="val 4000"/>
            </a:avLst>
          </a:prstGeom>
          <a:solidFill>
            <a:srgbClr val="14213D"/>
          </a:solidFill>
          <a:ln w="9525">
            <a:solidFill>
              <a:srgbClr val="14213D"/>
            </a:solidFill>
            <a:prstDash val="solid"/>
          </a:ln>
        </p:spPr>
      </p:sp>
      <p:sp>
        <p:nvSpPr>
          <p:cNvPr id="7" name="text-47"/>
          <p:cNvSpPr txBox="1"/>
          <p:nvPr/>
        </p:nvSpPr>
        <p:spPr>
          <a:xfrm>
            <a:off x="7498080" y="2514600"/>
            <a:ext cx="3822192" cy="2194560"/>
          </a:xfrm>
          <a:prstGeom prst="rect">
            <a:avLst/>
          </a:prstGeom>
          <a:noFill/>
          <a:ln/>
        </p:spPr>
        <p:txBody>
          <a:bodyPr wrap="square" lIns="0" tIns="0" rIns="0" bIns="0" rtlCol="0" anchor="t"/>
          <a:lstStyle/>
          <a:p>
            <a:pPr indent="0" marL="0">
              <a:lnSpc>
                <a:spcPct val="125000"/>
              </a:lnSpc>
              <a:buNone/>
            </a:pPr>
            <a:r>
              <a:rPr lang="en-US" sz="1400" dirty="0">
                <a:solidFill>
                  <a:srgbClr val="8A94A6"/>
                </a:solidFill>
                <a:latin typeface="Consolas" pitchFamily="34" charset="0"/>
                <a:ea typeface="Consolas" pitchFamily="34" charset="-122"/>
                <a:cs typeface="Consolas" pitchFamily="34" charset="-120"/>
              </a:rPr>
              <a:t># robot.py · 로봇마다 하나</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ctx = Context()</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rclpy.init(context=ctx,</a:t>
            </a:r>
            <a:endParaRPr lang="en-US" sz="1400" dirty="0"/>
          </a:p>
          <a:p>
            <a:pPr indent="0" marL="0">
              <a:lnSpc>
                <a:spcPct val="125000"/>
              </a:lnSpc>
              <a:buNone/>
            </a:pPr>
            <a:r>
              <a:rPr lang="en-US" sz="1400" dirty="0">
                <a:solidFill>
                  <a:srgbClr val="8FB3F0"/>
                </a:solidFill>
                <a:latin typeface="Consolas" pitchFamily="34" charset="0"/>
                <a:ea typeface="Consolas" pitchFamily="34" charset="-122"/>
                <a:cs typeface="Consolas" pitchFamily="34" charset="-120"/>
              </a:rPr>
              <a:t>           domain_id=domain)</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Node.__init__(name, context=ctx)</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SingleThreadedExecutor(context=ctx)</a:t>
            </a:r>
            <a:endParaRPr lang="en-US" sz="1400" dirty="0"/>
          </a:p>
          <a:p>
            <a:pPr indent="0" marL="0">
              <a:lnSpc>
                <a:spcPct val="125000"/>
              </a:lnSpc>
              <a:buNone/>
            </a:pPr>
            <a:r>
              <a:rPr lang="en-US" sz="1400" dirty="0">
                <a:solidFill>
                  <a:srgbClr val="8A94A6"/>
                </a:solidFill>
                <a:latin typeface="Consolas" pitchFamily="34" charset="0"/>
                <a:ea typeface="Consolas" pitchFamily="34" charset="-122"/>
                <a:cs typeface="Consolas" pitchFamily="34" charset="-120"/>
              </a:rPr>
              <a:t># → 별도 스레드에서 spin</a:t>
            </a:r>
            <a:endParaRPr lang="en-US" sz="1400" dirty="0"/>
          </a:p>
        </p:txBody>
      </p:sp>
      <p:sp>
        <p:nvSpPr>
          <p:cNvPr id="8" name="text-48"/>
          <p:cNvSpPr txBox="1"/>
          <p:nvPr/>
        </p:nvSpPr>
        <p:spPr>
          <a:xfrm>
            <a:off x="7178040" y="5166360"/>
            <a:ext cx="4462272" cy="365760"/>
          </a:xfrm>
          <a:prstGeom prst="rect">
            <a:avLst/>
          </a:prstGeom>
          <a:noFill/>
          <a:ln/>
        </p:spPr>
        <p:txBody>
          <a:bodyPr wrap="square" lIns="0" tIns="0" rIns="0" bIns="0" rtlCol="0" anchor="t"/>
          <a:lstStyle/>
          <a:p>
            <a:pPr indent="0" marL="0">
              <a:buNone/>
            </a:pPr>
            <a:r>
              <a:rPr lang="en-US" sz="1400" dirty="0">
                <a:solidFill>
                  <a:srgbClr val="4A5568"/>
                </a:solidFill>
                <a:latin typeface="Malgun Gothic" pitchFamily="34" charset="0"/>
                <a:ea typeface="Malgun Gothic" pitchFamily="34" charset="-122"/>
                <a:cs typeface="Malgun Gothic" pitchFamily="34" charset="-120"/>
              </a:rPr>
              <a:t>한 프로세스 = DDS 참가자 2개 (domain 15, 17)</a:t>
            </a:r>
            <a:endParaRPr lang="en-US" sz="14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02 · 실물 미들웨어</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멀티캐스트가 막힌 AP 위에서 Cyclone DDS 유니캐스트</a:t>
            </a:r>
            <a:endParaRPr lang="en-US" sz="2800" dirty="0"/>
          </a:p>
        </p:txBody>
      </p:sp>
      <p:sp>
        <p:nvSpPr>
          <p:cNvPr id="4" name="card-49"/>
          <p:cNvSpPr/>
          <p:nvPr/>
        </p:nvSpPr>
        <p:spPr>
          <a:xfrm>
            <a:off x="548640" y="1737360"/>
            <a:ext cx="6675120" cy="4343400"/>
          </a:xfrm>
          <a:prstGeom prst="roundRect">
            <a:avLst>
              <a:gd name="adj" fmla="val 2526"/>
            </a:avLst>
          </a:prstGeom>
          <a:solidFill>
            <a:srgbClr val="14213D"/>
          </a:solidFill>
          <a:ln w="9525">
            <a:solidFill>
              <a:srgbClr val="14213D"/>
            </a:solidFill>
            <a:prstDash val="solid"/>
          </a:ln>
        </p:spPr>
      </p:sp>
      <p:sp>
        <p:nvSpPr>
          <p:cNvPr id="5" name="text-50"/>
          <p:cNvSpPr txBox="1"/>
          <p:nvPr/>
        </p:nvSpPr>
        <p:spPr>
          <a:xfrm>
            <a:off x="868680" y="2011680"/>
            <a:ext cx="6035040" cy="3794760"/>
          </a:xfrm>
          <a:prstGeom prst="rect">
            <a:avLst/>
          </a:prstGeom>
          <a:noFill/>
          <a:ln/>
        </p:spPr>
        <p:txBody>
          <a:bodyPr wrap="square" lIns="0" tIns="0" rIns="0" bIns="0" rtlCol="0" anchor="t"/>
          <a:lstStyle/>
          <a:p>
            <a:pPr indent="0" marL="0">
              <a:lnSpc>
                <a:spcPct val="125000"/>
              </a:lnSpc>
              <a:buNone/>
            </a:pPr>
            <a:r>
              <a:rPr lang="en-US" sz="1300" dirty="0">
                <a:solidFill>
                  <a:srgbClr val="8A94A6"/>
                </a:solidFill>
                <a:latin typeface="Consolas" pitchFamily="34" charset="0"/>
                <a:ea typeface="Consolas" pitchFamily="34" charset="-122"/>
                <a:cs typeface="Consolas" pitchFamily="34" charset="-120"/>
              </a:rPr>
              <a:t>&lt;!-- ~/.ros/cyclonedds_pc.xml --&gt;</a:t>
            </a:r>
            <a:endParaRPr lang="en-US" sz="1300" dirty="0"/>
          </a:p>
          <a:p>
            <a:pPr indent="0" marL="0">
              <a:lnSpc>
                <a:spcPct val="125000"/>
              </a:lnSpc>
              <a:buNone/>
            </a:pPr>
            <a:r>
              <a:rPr lang="en-US" sz="1300" dirty="0">
                <a:solidFill>
                  <a:srgbClr val="FFFFFF"/>
                </a:solidFill>
                <a:latin typeface="Consolas" pitchFamily="34" charset="0"/>
                <a:ea typeface="Consolas" pitchFamily="34" charset="-122"/>
                <a:cs typeface="Consolas" pitchFamily="34" charset="-120"/>
              </a:rPr>
              <a:t>&lt;NetworkInterface name="wlo1" multicast="false"/&gt;</a:t>
            </a:r>
            <a:endParaRPr lang="en-US" sz="1300" dirty="0"/>
          </a:p>
          <a:p>
            <a:pPr indent="0" marL="0">
              <a:lnSpc>
                <a:spcPct val="125000"/>
              </a:lnSpc>
              <a:buNone/>
            </a:pPr>
            <a:r>
              <a:rPr lang="en-US" sz="1300" dirty="0">
                <a:solidFill>
                  <a:srgbClr val="FFFFFF"/>
                </a:solidFill>
                <a:latin typeface="Consolas" pitchFamily="34" charset="0"/>
                <a:ea typeface="Consolas" pitchFamily="34" charset="-122"/>
                <a:cs typeface="Consolas" pitchFamily="34" charset="-120"/>
              </a:rPr>
              <a:t>&lt;AllowMulticast&gt;false&lt;/AllowMulticast&gt;</a:t>
            </a:r>
            <a:endParaRPr lang="en-US" sz="1300" dirty="0"/>
          </a:p>
          <a:p>
            <a:pPr indent="0" marL="0">
              <a:lnSpc>
                <a:spcPct val="125000"/>
              </a:lnSpc>
              <a:buNone/>
            </a:pPr>
            <a:r>
              <a:rPr lang="en-US" sz="1300" dirty="0">
                <a:solidFill>
                  <a:srgbClr val="FFFFFF"/>
                </a:solidFill>
                <a:latin typeface="Consolas" pitchFamily="34" charset="0"/>
                <a:ea typeface="Consolas" pitchFamily="34" charset="-122"/>
                <a:cs typeface="Consolas" pitchFamily="34" charset="-120"/>
              </a:rPr>
              <a:t>&lt;ParticipantIndex&gt;auto&lt;/ParticipantIndex&gt;</a:t>
            </a:r>
            <a:endParaRPr lang="en-US" sz="1300" dirty="0"/>
          </a:p>
          <a:p>
            <a:pPr indent="0" marL="0">
              <a:lnSpc>
                <a:spcPct val="125000"/>
              </a:lnSpc>
              <a:buNone/>
            </a:pPr>
            <a:r>
              <a:rPr lang="en-US" sz="1300" dirty="0">
                <a:solidFill>
                  <a:srgbClr val="F2A65A"/>
                </a:solidFill>
                <a:latin typeface="Consolas" pitchFamily="34" charset="0"/>
                <a:ea typeface="Consolas" pitchFamily="34" charset="-122"/>
                <a:cs typeface="Consolas" pitchFamily="34" charset="-120"/>
              </a:rPr>
              <a:t>&lt;MaxAutoParticipantIndex&gt;50&lt;/MaxAutoParticipantIndex&gt;</a:t>
            </a:r>
            <a:endParaRPr lang="en-US" sz="1300" dirty="0"/>
          </a:p>
          <a:p>
            <a:pPr indent="0" marL="0">
              <a:lnSpc>
                <a:spcPct val="125000"/>
              </a:lnSpc>
              <a:buNone/>
            </a:pPr>
            <a:r>
              <a:rPr lang="en-US" sz="1300" dirty="0">
                <a:solidFill>
                  <a:srgbClr val="FFFFFF"/>
                </a:solidFill>
                <a:latin typeface="Consolas" pitchFamily="34" charset="0"/>
                <a:ea typeface="Consolas" pitchFamily="34" charset="-122"/>
                <a:cs typeface="Consolas" pitchFamily="34" charset="-120"/>
              </a:rPr>
              <a:t>&lt;Peers&gt;</a:t>
            </a:r>
            <a:endParaRPr lang="en-US" sz="1300" dirty="0"/>
          </a:p>
          <a:p>
            <a:pPr indent="0" marL="0">
              <a:lnSpc>
                <a:spcPct val="125000"/>
              </a:lnSpc>
              <a:buNone/>
            </a:pPr>
            <a:r>
              <a:rPr lang="en-US" sz="1300" dirty="0">
                <a:solidFill>
                  <a:srgbClr val="8FB3F0"/>
                </a:solidFill>
                <a:latin typeface="Consolas" pitchFamily="34" charset="0"/>
                <a:ea typeface="Consolas" pitchFamily="34" charset="-122"/>
                <a:cs typeface="Consolas" pitchFamily="34" charset="-120"/>
              </a:rPr>
              <a:t>  &lt;Peer Address="192.168.0.6"/&gt;  &lt;!-- robot1 --&gt;</a:t>
            </a:r>
            <a:endParaRPr lang="en-US" sz="1300" dirty="0"/>
          </a:p>
          <a:p>
            <a:pPr indent="0" marL="0">
              <a:lnSpc>
                <a:spcPct val="125000"/>
              </a:lnSpc>
              <a:buNone/>
            </a:pPr>
            <a:r>
              <a:rPr lang="en-US" sz="1300" dirty="0">
                <a:solidFill>
                  <a:srgbClr val="8FB3F0"/>
                </a:solidFill>
                <a:latin typeface="Consolas" pitchFamily="34" charset="0"/>
                <a:ea typeface="Consolas" pitchFamily="34" charset="-122"/>
                <a:cs typeface="Consolas" pitchFamily="34" charset="-120"/>
              </a:rPr>
              <a:t>  &lt;Peer Address="192.168.0.8"/&gt;  &lt;!-- robot2 --&gt;</a:t>
            </a:r>
            <a:endParaRPr lang="en-US" sz="1300" dirty="0"/>
          </a:p>
          <a:p>
            <a:pPr indent="0" marL="0">
              <a:lnSpc>
                <a:spcPct val="125000"/>
              </a:lnSpc>
              <a:buNone/>
            </a:pPr>
            <a:r>
              <a:rPr lang="en-US" sz="1300" dirty="0">
                <a:solidFill>
                  <a:srgbClr val="8FB3F0"/>
                </a:solidFill>
                <a:latin typeface="Consolas" pitchFamily="34" charset="0"/>
                <a:ea typeface="Consolas" pitchFamily="34" charset="-122"/>
                <a:cs typeface="Consolas" pitchFamily="34" charset="-120"/>
              </a:rPr>
              <a:t>  &lt;Peer Address="192.168.0.4"/&gt;  &lt;!-- 관제 PC --&gt;</a:t>
            </a:r>
            <a:endParaRPr lang="en-US" sz="1300" dirty="0"/>
          </a:p>
          <a:p>
            <a:pPr indent="0" marL="0">
              <a:lnSpc>
                <a:spcPct val="125000"/>
              </a:lnSpc>
              <a:buNone/>
            </a:pPr>
            <a:r>
              <a:rPr lang="en-US" sz="1300" dirty="0">
                <a:solidFill>
                  <a:srgbClr val="FFFFFF"/>
                </a:solidFill>
                <a:latin typeface="Consolas" pitchFamily="34" charset="0"/>
                <a:ea typeface="Consolas" pitchFamily="34" charset="-122"/>
                <a:cs typeface="Consolas" pitchFamily="34" charset="-120"/>
              </a:rPr>
              <a:t>&lt;/Peers&gt;</a:t>
            </a:r>
            <a:endParaRPr lang="en-US" sz="1300" dirty="0"/>
          </a:p>
          <a:p>
            <a:pPr indent="0" marL="0">
              <a:lnSpc>
                <a:spcPct val="125000"/>
              </a:lnSpc>
              <a:buNone/>
            </a:pPr>
            <a:endParaRPr lang="en-US" sz="1300" dirty="0"/>
          </a:p>
          <a:p>
            <a:pPr indent="0" marL="0">
              <a:lnSpc>
                <a:spcPct val="125000"/>
              </a:lnSpc>
              <a:buNone/>
            </a:pPr>
            <a:r>
              <a:rPr lang="en-US" sz="1300" dirty="0">
                <a:solidFill>
                  <a:srgbClr val="8A94A6"/>
                </a:solidFill>
                <a:latin typeface="Consolas" pitchFamily="34" charset="0"/>
                <a:ea typeface="Consolas" pitchFamily="34" charset="-122"/>
                <a:cs typeface="Consolas" pitchFamily="34" charset="-120"/>
              </a:rPr>
              <a:t># ~/.bashrc</a:t>
            </a:r>
            <a:endParaRPr lang="en-US" sz="1300" dirty="0"/>
          </a:p>
          <a:p>
            <a:pPr indent="0" marL="0">
              <a:lnSpc>
                <a:spcPct val="125000"/>
              </a:lnSpc>
              <a:buNone/>
            </a:pPr>
            <a:r>
              <a:rPr lang="en-US" sz="1300" dirty="0">
                <a:solidFill>
                  <a:srgbClr val="FFFFFF"/>
                </a:solidFill>
                <a:latin typeface="Consolas" pitchFamily="34" charset="0"/>
                <a:ea typeface="Consolas" pitchFamily="34" charset="-122"/>
                <a:cs typeface="Consolas" pitchFamily="34" charset="-120"/>
              </a:rPr>
              <a:t>export RMW_IMPLEMENTATION=rmw_cyclonedds_cpp</a:t>
            </a:r>
            <a:endParaRPr lang="en-US" sz="1300" dirty="0"/>
          </a:p>
          <a:p>
            <a:pPr indent="0" marL="0">
              <a:lnSpc>
                <a:spcPct val="125000"/>
              </a:lnSpc>
              <a:buNone/>
            </a:pPr>
            <a:r>
              <a:rPr lang="en-US" sz="1300" dirty="0">
                <a:solidFill>
                  <a:srgbClr val="FFFFFF"/>
                </a:solidFill>
                <a:latin typeface="Consolas" pitchFamily="34" charset="0"/>
                <a:ea typeface="Consolas" pitchFamily="34" charset="-122"/>
                <a:cs typeface="Consolas" pitchFamily="34" charset="-120"/>
              </a:rPr>
              <a:t>export CYCLONEDDS_URI=$HOME/.ros/cyclonedds_pc.xml</a:t>
            </a:r>
            <a:endParaRPr lang="en-US" sz="1300" dirty="0"/>
          </a:p>
        </p:txBody>
      </p:sp>
      <p:sp>
        <p:nvSpPr>
          <p:cNvPr id="6" name="text-51"/>
          <p:cNvSpPr txBox="1"/>
          <p:nvPr/>
        </p:nvSpPr>
        <p:spPr>
          <a:xfrm>
            <a:off x="7498080" y="1737360"/>
            <a:ext cx="4142232" cy="347472"/>
          </a:xfrm>
          <a:prstGeom prst="rect">
            <a:avLst/>
          </a:prstGeom>
          <a:noFill/>
          <a:ln/>
        </p:spPr>
        <p:txBody>
          <a:bodyPr wrap="square" lIns="0" tIns="0" rIns="0" bIns="0" rtlCol="0" anchor="t"/>
          <a:lstStyle/>
          <a:p>
            <a:pPr indent="0" marL="0">
              <a:buNone/>
            </a:pPr>
            <a:r>
              <a:rPr lang="en-US" sz="1600" b="1" dirty="0">
                <a:solidFill>
                  <a:srgbClr val="14213D"/>
                </a:solidFill>
                <a:latin typeface="Malgun Gothic" pitchFamily="34" charset="0"/>
                <a:ea typeface="Malgun Gothic" pitchFamily="34" charset="-122"/>
                <a:cs typeface="Malgun Gothic" pitchFamily="34" charset="-120"/>
              </a:rPr>
              <a:t>멀티캐스트 끄고 peer 명시</a:t>
            </a:r>
            <a:endParaRPr lang="en-US" sz="1600" dirty="0"/>
          </a:p>
        </p:txBody>
      </p:sp>
      <p:sp>
        <p:nvSpPr>
          <p:cNvPr id="7" name="text-52"/>
          <p:cNvSpPr txBox="1"/>
          <p:nvPr/>
        </p:nvSpPr>
        <p:spPr>
          <a:xfrm>
            <a:off x="7498080" y="2103120"/>
            <a:ext cx="4142232" cy="68580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AP가 SPDP 멀티캐스트를 차단 → 로봇 2대와 PC를 유니캐스트 peer로 직접 지정</a:t>
            </a:r>
            <a:endParaRPr lang="en-US" sz="1300" dirty="0"/>
          </a:p>
        </p:txBody>
      </p:sp>
      <p:sp>
        <p:nvSpPr>
          <p:cNvPr id="8" name="text-53"/>
          <p:cNvSpPr txBox="1"/>
          <p:nvPr/>
        </p:nvSpPr>
        <p:spPr>
          <a:xfrm>
            <a:off x="7498080" y="2834640"/>
            <a:ext cx="4142232" cy="347472"/>
          </a:xfrm>
          <a:prstGeom prst="rect">
            <a:avLst/>
          </a:prstGeom>
          <a:noFill/>
          <a:ln/>
        </p:spPr>
        <p:txBody>
          <a:bodyPr wrap="square" lIns="0" tIns="0" rIns="0" bIns="0" rtlCol="0" anchor="t"/>
          <a:lstStyle/>
          <a:p>
            <a:pPr indent="0" marL="0">
              <a:buNone/>
            </a:pPr>
            <a:r>
              <a:rPr lang="en-US" sz="1600" b="1" dirty="0">
                <a:solidFill>
                  <a:srgbClr val="14213D"/>
                </a:solidFill>
                <a:latin typeface="Malgun Gothic" pitchFamily="34" charset="0"/>
                <a:ea typeface="Malgun Gothic" pitchFamily="34" charset="-122"/>
                <a:cs typeface="Malgun Gothic" pitchFamily="34" charset="-120"/>
              </a:rPr>
              <a:t>MaxAutoParticipantIndex 50</a:t>
            </a:r>
            <a:endParaRPr lang="en-US" sz="1600" dirty="0"/>
          </a:p>
        </p:txBody>
      </p:sp>
      <p:sp>
        <p:nvSpPr>
          <p:cNvPr id="9" name="text-54"/>
          <p:cNvSpPr txBox="1"/>
          <p:nvPr/>
        </p:nvSpPr>
        <p:spPr>
          <a:xfrm>
            <a:off x="7498080" y="3200400"/>
            <a:ext cx="4142232" cy="68580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유니캐스트에선 PC·도메인당 참가자 수 상한이 기본 약 10개. Nav2 + 대시보드 + ros2 CLI가 겹치면 모자람</a:t>
            </a:r>
            <a:endParaRPr lang="en-US" sz="1300" dirty="0"/>
          </a:p>
        </p:txBody>
      </p:sp>
      <p:sp>
        <p:nvSpPr>
          <p:cNvPr id="10" name="text-55"/>
          <p:cNvSpPr txBox="1"/>
          <p:nvPr/>
        </p:nvSpPr>
        <p:spPr>
          <a:xfrm>
            <a:off x="7498080" y="3931920"/>
            <a:ext cx="4142232" cy="347472"/>
          </a:xfrm>
          <a:prstGeom prst="rect">
            <a:avLst/>
          </a:prstGeom>
          <a:noFill/>
          <a:ln/>
        </p:spPr>
        <p:txBody>
          <a:bodyPr wrap="square" lIns="0" tIns="0" rIns="0" bIns="0" rtlCol="0" anchor="t"/>
          <a:lstStyle/>
          <a:p>
            <a:pPr indent="0" marL="0">
              <a:buNone/>
            </a:pPr>
            <a:r>
              <a:rPr lang="en-US" sz="1600" b="1" dirty="0">
                <a:solidFill>
                  <a:srgbClr val="14213D"/>
                </a:solidFill>
                <a:latin typeface="Malgun Gothic" pitchFamily="34" charset="0"/>
                <a:ea typeface="Malgun Gothic" pitchFamily="34" charset="-122"/>
                <a:cs typeface="Malgun Gothic" pitchFamily="34" charset="-120"/>
              </a:rPr>
              <a:t>PC와 로봇이 같은 RMW</a:t>
            </a:r>
            <a:endParaRPr lang="en-US" sz="1600" dirty="0"/>
          </a:p>
        </p:txBody>
      </p:sp>
      <p:sp>
        <p:nvSpPr>
          <p:cNvPr id="11" name="text-56"/>
          <p:cNvSpPr txBox="1"/>
          <p:nvPr/>
        </p:nvSpPr>
        <p:spPr>
          <a:xfrm>
            <a:off x="7498080" y="4297680"/>
            <a:ext cx="4142232" cy="68580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로봇 bringup도 Cyclone이어야 함. 섞으면 /odom·TF가 PC에 안 옴</a:t>
            </a:r>
            <a:endParaRPr lang="en-US" sz="1300" dirty="0"/>
          </a:p>
        </p:txBody>
      </p:sp>
      <p:sp>
        <p:nvSpPr>
          <p:cNvPr id="12" name="text-57"/>
          <p:cNvSpPr txBox="1"/>
          <p:nvPr/>
        </p:nvSpPr>
        <p:spPr>
          <a:xfrm>
            <a:off x="7498080" y="5029200"/>
            <a:ext cx="4142232" cy="347472"/>
          </a:xfrm>
          <a:prstGeom prst="rect">
            <a:avLst/>
          </a:prstGeom>
          <a:noFill/>
          <a:ln/>
        </p:spPr>
        <p:txBody>
          <a:bodyPr wrap="square" lIns="0" tIns="0" rIns="0" bIns="0" rtlCol="0" anchor="t"/>
          <a:lstStyle/>
          <a:p>
            <a:pPr indent="0" marL="0">
              <a:buNone/>
            </a:pPr>
            <a:r>
              <a:rPr lang="en-US" sz="1600" b="1" dirty="0">
                <a:solidFill>
                  <a:srgbClr val="14213D"/>
                </a:solidFill>
                <a:latin typeface="Malgun Gothic" pitchFamily="34" charset="0"/>
                <a:ea typeface="Malgun Gothic" pitchFamily="34" charset="-122"/>
                <a:cs typeface="Malgun Gothic" pitchFamily="34" charset="-120"/>
              </a:rPr>
              <a:t>시뮬은 반대로</a:t>
            </a:r>
            <a:endParaRPr lang="en-US" sz="1600" dirty="0"/>
          </a:p>
        </p:txBody>
      </p:sp>
      <p:sp>
        <p:nvSpPr>
          <p:cNvPr id="13" name="text-58"/>
          <p:cNvSpPr txBox="1"/>
          <p:nvPr/>
        </p:nvSpPr>
        <p:spPr>
          <a:xfrm>
            <a:off x="7498080" y="5394960"/>
            <a:ext cx="4142232" cy="68580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sim.launch가 Fast DDS + LOCALHOST로 바꾸고 CYCLONEDDS_URI·peer를 지운다</a:t>
            </a:r>
            <a:endParaRPr lang="en-US" sz="13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02 · 관제 프로세스 내부</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판단은 순수 Python, ROS 입출력은 한 곳에</a:t>
            </a:r>
            <a:endParaRPr lang="en-US" sz="2800" dirty="0"/>
          </a:p>
        </p:txBody>
      </p:sp>
      <p:sp>
        <p:nvSpPr>
          <p:cNvPr id="4" name="card-59"/>
          <p:cNvSpPr/>
          <p:nvPr/>
        </p:nvSpPr>
        <p:spPr>
          <a:xfrm>
            <a:off x="548640" y="1737360"/>
            <a:ext cx="3520440" cy="1234440"/>
          </a:xfrm>
          <a:prstGeom prst="roundRect">
            <a:avLst>
              <a:gd name="adj" fmla="val 8889"/>
            </a:avLst>
          </a:prstGeom>
          <a:solidFill>
            <a:srgbClr val="F3F5F8"/>
          </a:solidFill>
          <a:ln w="9525">
            <a:solidFill>
              <a:srgbClr val="F3F5F8"/>
            </a:solidFill>
            <a:prstDash val="solid"/>
          </a:ln>
        </p:spPr>
      </p:sp>
      <p:sp>
        <p:nvSpPr>
          <p:cNvPr id="5" name="text-60"/>
          <p:cNvSpPr txBox="1"/>
          <p:nvPr/>
        </p:nvSpPr>
        <p:spPr>
          <a:xfrm>
            <a:off x="822960" y="1920240"/>
            <a:ext cx="3017520" cy="347472"/>
          </a:xfrm>
          <a:prstGeom prst="rect">
            <a:avLst/>
          </a:prstGeom>
          <a:noFill/>
          <a:ln/>
        </p:spPr>
        <p:txBody>
          <a:bodyPr wrap="square" lIns="0" tIns="0" rIns="0" bIns="0" rtlCol="0" anchor="t"/>
          <a:lstStyle/>
          <a:p>
            <a:pPr indent="0" marL="0">
              <a:buNone/>
            </a:pPr>
            <a:r>
              <a:rPr lang="en-US" sz="1500" b="1" dirty="0">
                <a:solidFill>
                  <a:srgbClr val="2E7D4F"/>
                </a:solidFill>
                <a:latin typeface="Consolas" pitchFamily="34" charset="0"/>
                <a:ea typeface="Consolas" pitchFamily="34" charset="-122"/>
                <a:cs typeface="Consolas" pitchFamily="34" charset="-120"/>
              </a:rPr>
              <a:t>robot.py</a:t>
            </a:r>
            <a:endParaRPr lang="en-US" sz="1500" dirty="0"/>
          </a:p>
        </p:txBody>
      </p:sp>
      <p:sp>
        <p:nvSpPr>
          <p:cNvPr id="6" name="text-61"/>
          <p:cNvSpPr txBox="1"/>
          <p:nvPr/>
        </p:nvSpPr>
        <p:spPr>
          <a:xfrm>
            <a:off x="822960" y="2304288"/>
            <a:ext cx="3017520" cy="566928"/>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로봇 1대의 ROS 인터페이스. 액션·구독·서비스 전부</a:t>
            </a:r>
            <a:endParaRPr lang="en-US" sz="1300" dirty="0"/>
          </a:p>
        </p:txBody>
      </p:sp>
      <p:sp>
        <p:nvSpPr>
          <p:cNvPr id="7" name="card-62"/>
          <p:cNvSpPr/>
          <p:nvPr/>
        </p:nvSpPr>
        <p:spPr>
          <a:xfrm>
            <a:off x="4251960" y="1737360"/>
            <a:ext cx="3520440" cy="1234440"/>
          </a:xfrm>
          <a:prstGeom prst="roundRect">
            <a:avLst>
              <a:gd name="adj" fmla="val 8889"/>
            </a:avLst>
          </a:prstGeom>
          <a:solidFill>
            <a:srgbClr val="F3F5F8"/>
          </a:solidFill>
          <a:ln w="9525">
            <a:solidFill>
              <a:srgbClr val="F3F5F8"/>
            </a:solidFill>
            <a:prstDash val="solid"/>
          </a:ln>
        </p:spPr>
      </p:sp>
      <p:sp>
        <p:nvSpPr>
          <p:cNvPr id="8" name="text-63"/>
          <p:cNvSpPr txBox="1"/>
          <p:nvPr/>
        </p:nvSpPr>
        <p:spPr>
          <a:xfrm>
            <a:off x="4526280" y="1920240"/>
            <a:ext cx="3017520" cy="347472"/>
          </a:xfrm>
          <a:prstGeom prst="rect">
            <a:avLst/>
          </a:prstGeom>
          <a:noFill/>
          <a:ln/>
        </p:spPr>
        <p:txBody>
          <a:bodyPr wrap="square" lIns="0" tIns="0" rIns="0" bIns="0" rtlCol="0" anchor="t"/>
          <a:lstStyle/>
          <a:p>
            <a:pPr indent="0" marL="0">
              <a:buNone/>
            </a:pPr>
            <a:r>
              <a:rPr lang="en-US" sz="1500" b="1" dirty="0">
                <a:solidFill>
                  <a:srgbClr val="2E7D4F"/>
                </a:solidFill>
                <a:latin typeface="Consolas" pitchFamily="34" charset="0"/>
                <a:ea typeface="Consolas" pitchFamily="34" charset="-122"/>
                <a:cs typeface="Consolas" pitchFamily="34" charset="-120"/>
              </a:rPr>
              <a:t>fleet.py</a:t>
            </a:r>
            <a:endParaRPr lang="en-US" sz="1500" dirty="0"/>
          </a:p>
        </p:txBody>
      </p:sp>
      <p:sp>
        <p:nvSpPr>
          <p:cNvPr id="9" name="text-64"/>
          <p:cNvSpPr txBox="1"/>
          <p:nvPr/>
        </p:nvSpPr>
        <p:spPr>
          <a:xfrm>
            <a:off x="4526280" y="2304288"/>
            <a:ext cx="3017520" cy="566928"/>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명령 라우팅 · 상태 집계 · 교통 스레드 0.2 s · 재시도</a:t>
            </a:r>
            <a:endParaRPr lang="en-US" sz="1300" dirty="0"/>
          </a:p>
        </p:txBody>
      </p:sp>
      <p:sp>
        <p:nvSpPr>
          <p:cNvPr id="10" name="card-65"/>
          <p:cNvSpPr/>
          <p:nvPr/>
        </p:nvSpPr>
        <p:spPr>
          <a:xfrm>
            <a:off x="548640" y="3154680"/>
            <a:ext cx="3520440" cy="1234440"/>
          </a:xfrm>
          <a:prstGeom prst="roundRect">
            <a:avLst>
              <a:gd name="adj" fmla="val 8889"/>
            </a:avLst>
          </a:prstGeom>
          <a:solidFill>
            <a:srgbClr val="FFF4E6"/>
          </a:solidFill>
          <a:ln w="19050">
            <a:solidFill>
              <a:srgbClr val="D9822B"/>
            </a:solidFill>
            <a:prstDash val="solid"/>
          </a:ln>
        </p:spPr>
      </p:sp>
      <p:sp>
        <p:nvSpPr>
          <p:cNvPr id="11" name="text-66"/>
          <p:cNvSpPr txBox="1"/>
          <p:nvPr/>
        </p:nvSpPr>
        <p:spPr>
          <a:xfrm>
            <a:off x="822960" y="3337560"/>
            <a:ext cx="3017520" cy="347472"/>
          </a:xfrm>
          <a:prstGeom prst="rect">
            <a:avLst/>
          </a:prstGeom>
          <a:noFill/>
          <a:ln/>
        </p:spPr>
        <p:txBody>
          <a:bodyPr wrap="square" lIns="0" tIns="0" rIns="0" bIns="0" rtlCol="0" anchor="t"/>
          <a:lstStyle/>
          <a:p>
            <a:pPr indent="0" marL="0">
              <a:buNone/>
            </a:pPr>
            <a:r>
              <a:rPr lang="en-US" sz="1500" b="1" dirty="0">
                <a:solidFill>
                  <a:srgbClr val="A85A12"/>
                </a:solidFill>
                <a:latin typeface="Consolas" pitchFamily="34" charset="0"/>
                <a:ea typeface="Consolas" pitchFamily="34" charset="-122"/>
                <a:cs typeface="Consolas" pitchFamily="34" charset="-120"/>
              </a:rPr>
              <a:t>traffic.py</a:t>
            </a:r>
            <a:endParaRPr lang="en-US" sz="1500" dirty="0"/>
          </a:p>
        </p:txBody>
      </p:sp>
      <p:sp>
        <p:nvSpPr>
          <p:cNvPr id="12" name="text-67"/>
          <p:cNvSpPr txBox="1"/>
          <p:nvPr/>
        </p:nvSpPr>
        <p:spPr>
          <a:xfrm>
            <a:off x="822960" y="3721608"/>
            <a:ext cx="3017520" cy="566928"/>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TrafficGate · YieldRule · 기하. ROS import 없음</a:t>
            </a:r>
            <a:endParaRPr lang="en-US" sz="1300" dirty="0"/>
          </a:p>
        </p:txBody>
      </p:sp>
      <p:sp>
        <p:nvSpPr>
          <p:cNvPr id="13" name="card-68"/>
          <p:cNvSpPr/>
          <p:nvPr/>
        </p:nvSpPr>
        <p:spPr>
          <a:xfrm>
            <a:off x="4251960" y="3154680"/>
            <a:ext cx="3520440" cy="1234440"/>
          </a:xfrm>
          <a:prstGeom prst="roundRect">
            <a:avLst>
              <a:gd name="adj" fmla="val 8889"/>
            </a:avLst>
          </a:prstGeom>
          <a:solidFill>
            <a:srgbClr val="FFF4E6"/>
          </a:solidFill>
          <a:ln w="19050">
            <a:solidFill>
              <a:srgbClr val="D9822B"/>
            </a:solidFill>
            <a:prstDash val="solid"/>
          </a:ln>
        </p:spPr>
      </p:sp>
      <p:sp>
        <p:nvSpPr>
          <p:cNvPr id="14" name="text-69"/>
          <p:cNvSpPr txBox="1"/>
          <p:nvPr/>
        </p:nvSpPr>
        <p:spPr>
          <a:xfrm>
            <a:off x="4526280" y="3337560"/>
            <a:ext cx="3017520" cy="347472"/>
          </a:xfrm>
          <a:prstGeom prst="rect">
            <a:avLst/>
          </a:prstGeom>
          <a:noFill/>
          <a:ln/>
        </p:spPr>
        <p:txBody>
          <a:bodyPr wrap="square" lIns="0" tIns="0" rIns="0" bIns="0" rtlCol="0" anchor="t"/>
          <a:lstStyle/>
          <a:p>
            <a:pPr indent="0" marL="0">
              <a:buNone/>
            </a:pPr>
            <a:r>
              <a:rPr lang="en-US" sz="1500" b="1" dirty="0">
                <a:solidFill>
                  <a:srgbClr val="A85A12"/>
                </a:solidFill>
                <a:latin typeface="Consolas" pitchFamily="34" charset="0"/>
                <a:ea typeface="Consolas" pitchFamily="34" charset="-122"/>
                <a:cs typeface="Consolas" pitchFamily="34" charset="-120"/>
              </a:rPr>
              <a:t>localize.py</a:t>
            </a:r>
            <a:endParaRPr lang="en-US" sz="1500" dirty="0"/>
          </a:p>
        </p:txBody>
      </p:sp>
      <p:sp>
        <p:nvSpPr>
          <p:cNvPr id="15" name="text-70"/>
          <p:cNvSpPr txBox="1"/>
          <p:nvPr/>
        </p:nvSpPr>
        <p:spPr>
          <a:xfrm>
            <a:off x="4526280" y="3721608"/>
            <a:ext cx="3017520" cy="566928"/>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전역 위치 추정 상태 머신. ROS import 없음</a:t>
            </a:r>
            <a:endParaRPr lang="en-US" sz="1300" dirty="0"/>
          </a:p>
        </p:txBody>
      </p:sp>
      <p:sp>
        <p:nvSpPr>
          <p:cNvPr id="16" name="card-71"/>
          <p:cNvSpPr/>
          <p:nvPr/>
        </p:nvSpPr>
        <p:spPr>
          <a:xfrm>
            <a:off x="548640" y="4572000"/>
            <a:ext cx="3520440" cy="1234440"/>
          </a:xfrm>
          <a:prstGeom prst="roundRect">
            <a:avLst>
              <a:gd name="adj" fmla="val 8889"/>
            </a:avLst>
          </a:prstGeom>
          <a:solidFill>
            <a:srgbClr val="F3F5F8"/>
          </a:solidFill>
          <a:ln w="9525">
            <a:solidFill>
              <a:srgbClr val="F3F5F8"/>
            </a:solidFill>
            <a:prstDash val="solid"/>
          </a:ln>
        </p:spPr>
      </p:sp>
      <p:sp>
        <p:nvSpPr>
          <p:cNvPr id="17" name="text-72"/>
          <p:cNvSpPr txBox="1"/>
          <p:nvPr/>
        </p:nvSpPr>
        <p:spPr>
          <a:xfrm>
            <a:off x="822960" y="4754880"/>
            <a:ext cx="3017520" cy="347472"/>
          </a:xfrm>
          <a:prstGeom prst="rect">
            <a:avLst/>
          </a:prstGeom>
          <a:noFill/>
          <a:ln/>
        </p:spPr>
        <p:txBody>
          <a:bodyPr wrap="square" lIns="0" tIns="0" rIns="0" bIns="0" rtlCol="0" anchor="t"/>
          <a:lstStyle/>
          <a:p>
            <a:pPr indent="0" marL="0">
              <a:buNone/>
            </a:pPr>
            <a:r>
              <a:rPr lang="en-US" sz="1500" b="1" dirty="0">
                <a:solidFill>
                  <a:srgbClr val="2E7D4F"/>
                </a:solidFill>
                <a:latin typeface="Consolas" pitchFamily="34" charset="0"/>
                <a:ea typeface="Consolas" pitchFamily="34" charset="-122"/>
                <a:cs typeface="Consolas" pitchFamily="34" charset="-120"/>
              </a:rPr>
              <a:t>dashboard_http.py</a:t>
            </a:r>
            <a:endParaRPr lang="en-US" sz="1500" dirty="0"/>
          </a:p>
        </p:txBody>
      </p:sp>
      <p:sp>
        <p:nvSpPr>
          <p:cNvPr id="18" name="text-73"/>
          <p:cNvSpPr txBox="1"/>
          <p:nvPr/>
        </p:nvSpPr>
        <p:spPr>
          <a:xfrm>
            <a:off x="822960" y="5138928"/>
            <a:ext cx="3017520" cy="566928"/>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REST 라우팅 (JSON, 4 KB 제한)</a:t>
            </a:r>
            <a:endParaRPr lang="en-US" sz="1300" dirty="0"/>
          </a:p>
        </p:txBody>
      </p:sp>
      <p:sp>
        <p:nvSpPr>
          <p:cNvPr id="19" name="card-74"/>
          <p:cNvSpPr/>
          <p:nvPr/>
        </p:nvSpPr>
        <p:spPr>
          <a:xfrm>
            <a:off x="4251960" y="4572000"/>
            <a:ext cx="3520440" cy="1234440"/>
          </a:xfrm>
          <a:prstGeom prst="roundRect">
            <a:avLst>
              <a:gd name="adj" fmla="val 8889"/>
            </a:avLst>
          </a:prstGeom>
          <a:solidFill>
            <a:srgbClr val="F3F5F8"/>
          </a:solidFill>
          <a:ln w="9525">
            <a:solidFill>
              <a:srgbClr val="F3F5F8"/>
            </a:solidFill>
            <a:prstDash val="solid"/>
          </a:ln>
        </p:spPr>
      </p:sp>
      <p:sp>
        <p:nvSpPr>
          <p:cNvPr id="20" name="text-75"/>
          <p:cNvSpPr txBox="1"/>
          <p:nvPr/>
        </p:nvSpPr>
        <p:spPr>
          <a:xfrm>
            <a:off x="4526280" y="4754880"/>
            <a:ext cx="3017520" cy="347472"/>
          </a:xfrm>
          <a:prstGeom prst="rect">
            <a:avLst/>
          </a:prstGeom>
          <a:noFill/>
          <a:ln/>
        </p:spPr>
        <p:txBody>
          <a:bodyPr wrap="square" lIns="0" tIns="0" rIns="0" bIns="0" rtlCol="0" anchor="t"/>
          <a:lstStyle/>
          <a:p>
            <a:pPr indent="0" marL="0">
              <a:buNone/>
            </a:pPr>
            <a:r>
              <a:rPr lang="en-US" sz="1500" b="1" dirty="0">
                <a:solidFill>
                  <a:srgbClr val="2E7D4F"/>
                </a:solidFill>
                <a:latin typeface="Consolas" pitchFamily="34" charset="0"/>
                <a:ea typeface="Consolas" pitchFamily="34" charset="-122"/>
                <a:cs typeface="Consolas" pitchFamily="34" charset="-120"/>
              </a:rPr>
              <a:t>web/fleet.html</a:t>
            </a:r>
            <a:endParaRPr lang="en-US" sz="1500" dirty="0"/>
          </a:p>
        </p:txBody>
      </p:sp>
      <p:sp>
        <p:nvSpPr>
          <p:cNvPr id="21" name="text-76"/>
          <p:cNvSpPr txBox="1"/>
          <p:nvPr/>
        </p:nvSpPr>
        <p:spPr>
          <a:xfrm>
            <a:off x="4526280" y="5138928"/>
            <a:ext cx="3017520" cy="566928"/>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Canvas 지도 · 경로, 500 ms 폴링</a:t>
            </a:r>
            <a:endParaRPr lang="en-US" sz="1300" dirty="0"/>
          </a:p>
        </p:txBody>
      </p:sp>
      <p:sp>
        <p:nvSpPr>
          <p:cNvPr id="22" name="card-77"/>
          <p:cNvSpPr/>
          <p:nvPr/>
        </p:nvSpPr>
        <p:spPr>
          <a:xfrm>
            <a:off x="8183880" y="1737360"/>
            <a:ext cx="3456432" cy="4069080"/>
          </a:xfrm>
          <a:prstGeom prst="roundRect">
            <a:avLst>
              <a:gd name="adj" fmla="val 3175"/>
            </a:avLst>
          </a:prstGeom>
          <a:solidFill>
            <a:srgbClr val="14213D"/>
          </a:solidFill>
          <a:ln w="9525">
            <a:solidFill>
              <a:srgbClr val="14213D"/>
            </a:solidFill>
            <a:prstDash val="solid"/>
          </a:ln>
        </p:spPr>
      </p:sp>
      <p:sp>
        <p:nvSpPr>
          <p:cNvPr id="23" name="text-78"/>
          <p:cNvSpPr txBox="1"/>
          <p:nvPr/>
        </p:nvSpPr>
        <p:spPr>
          <a:xfrm>
            <a:off x="8503920" y="2103120"/>
            <a:ext cx="2834640" cy="1005840"/>
          </a:xfrm>
          <a:prstGeom prst="rect">
            <a:avLst/>
          </a:prstGeom>
          <a:noFill/>
          <a:ln/>
        </p:spPr>
        <p:txBody>
          <a:bodyPr wrap="square" lIns="0" tIns="0" rIns="0" bIns="0" rtlCol="0" anchor="t"/>
          <a:lstStyle/>
          <a:p>
            <a:pPr indent="0" marL="0">
              <a:buNone/>
            </a:pPr>
            <a:r>
              <a:rPr lang="en-US" sz="6000" b="1" dirty="0">
                <a:solidFill>
                  <a:srgbClr val="F2A65A"/>
                </a:solidFill>
                <a:latin typeface="Consolas" pitchFamily="34" charset="0"/>
                <a:ea typeface="Consolas" pitchFamily="34" charset="-122"/>
                <a:cs typeface="Consolas" pitchFamily="34" charset="-120"/>
              </a:rPr>
              <a:t>113</a:t>
            </a:r>
            <a:endParaRPr lang="en-US" sz="6000" dirty="0"/>
          </a:p>
        </p:txBody>
      </p:sp>
      <p:sp>
        <p:nvSpPr>
          <p:cNvPr id="24" name="text-79"/>
          <p:cNvSpPr txBox="1"/>
          <p:nvPr/>
        </p:nvSpPr>
        <p:spPr>
          <a:xfrm>
            <a:off x="8503920" y="3200400"/>
            <a:ext cx="2834640" cy="411480"/>
          </a:xfrm>
          <a:prstGeom prst="rect">
            <a:avLst/>
          </a:prstGeom>
          <a:noFill/>
          <a:ln/>
        </p:spPr>
        <p:txBody>
          <a:bodyPr wrap="square" lIns="0" tIns="0" rIns="0" bIns="0" rtlCol="0" anchor="t"/>
          <a:lstStyle/>
          <a:p>
            <a:pPr indent="0" marL="0">
              <a:buNone/>
            </a:pPr>
            <a:r>
              <a:rPr lang="en-US" sz="1800" b="1" dirty="0">
                <a:solidFill>
                  <a:srgbClr val="F6F7F4"/>
                </a:solidFill>
                <a:latin typeface="Malgun Gothic" pitchFamily="34" charset="0"/>
                <a:ea typeface="Malgun Gothic" pitchFamily="34" charset="-122"/>
                <a:cs typeface="Malgun Gothic" pitchFamily="34" charset="-120"/>
              </a:rPr>
              <a:t>pytest, DDS 없이 수 초</a:t>
            </a:r>
            <a:endParaRPr lang="en-US" sz="1800" dirty="0"/>
          </a:p>
        </p:txBody>
      </p:sp>
      <p:sp>
        <p:nvSpPr>
          <p:cNvPr id="25" name="text-80"/>
          <p:cNvSpPr txBox="1"/>
          <p:nvPr/>
        </p:nvSpPr>
        <p:spPr>
          <a:xfrm>
            <a:off x="8503920" y="3703320"/>
            <a:ext cx="2834640" cy="1737360"/>
          </a:xfrm>
          <a:prstGeom prst="rect">
            <a:avLst/>
          </a:prstGeom>
          <a:noFill/>
          <a:ln/>
        </p:spPr>
        <p:txBody>
          <a:bodyPr wrap="square" lIns="0" tIns="0" rIns="0" bIns="0" rtlCol="0" anchor="t"/>
          <a:lstStyle/>
          <a:p>
            <a:pPr indent="0" marL="0">
              <a:lnSpc>
                <a:spcPct val="130000"/>
              </a:lnSpc>
              <a:buNone/>
            </a:pPr>
            <a:r>
              <a:rPr lang="en-US" sz="1400" dirty="0">
                <a:solidFill>
                  <a:srgbClr val="C9D3E3"/>
                </a:solidFill>
                <a:latin typeface="Malgun Gothic" pitchFamily="34" charset="0"/>
                <a:ea typeface="Malgun Gothic" pitchFamily="34" charset="-122"/>
                <a:cs typeface="Malgun Gothic" pitchFamily="34" charset="-120"/>
              </a:rPr>
              <a:t>교통 규칙은 입력이 좌표·경로 점뿐인 순수 함수. 정면 교차·후진 한계를 좌표만으로 재현한다.</a:t>
            </a:r>
            <a:endParaRPr lang="en-US" sz="14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03 · 위치 찾기</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아무 데나 놓고 켜면, 돌면서 스스로 찾는다</a:t>
            </a:r>
            <a:endParaRPr lang="en-US" sz="2800" dirty="0"/>
          </a:p>
        </p:txBody>
      </p:sp>
      <p:sp>
        <p:nvSpPr>
          <p:cNvPr id="4" name="card-81"/>
          <p:cNvSpPr/>
          <p:nvPr/>
        </p:nvSpPr>
        <p:spPr>
          <a:xfrm>
            <a:off x="548640" y="1737360"/>
            <a:ext cx="2331720" cy="914400"/>
          </a:xfrm>
          <a:prstGeom prst="roundRect">
            <a:avLst>
              <a:gd name="adj" fmla="val 12000"/>
            </a:avLst>
          </a:prstGeom>
          <a:solidFill>
            <a:srgbClr val="E8EEF8"/>
          </a:solidFill>
          <a:ln w="19050">
            <a:solidFill>
              <a:srgbClr val="2F6FDB"/>
            </a:solidFill>
            <a:prstDash val="solid"/>
          </a:ln>
        </p:spPr>
      </p:sp>
      <p:sp>
        <p:nvSpPr>
          <p:cNvPr id="5" name="text-82"/>
          <p:cNvSpPr txBox="1"/>
          <p:nvPr/>
        </p:nvSpPr>
        <p:spPr>
          <a:xfrm>
            <a:off x="731520" y="1828800"/>
            <a:ext cx="1965960" cy="347472"/>
          </a:xfrm>
          <a:prstGeom prst="rect">
            <a:avLst/>
          </a:prstGeom>
          <a:noFill/>
          <a:ln/>
        </p:spPr>
        <p:txBody>
          <a:bodyPr wrap="square" lIns="0" tIns="0" rIns="0" bIns="0" rtlCol="0" anchor="t"/>
          <a:lstStyle/>
          <a:p>
            <a:pPr indent="0" marL="0">
              <a:buNone/>
            </a:pPr>
            <a:r>
              <a:rPr lang="en-US" sz="1500" b="1" dirty="0">
                <a:solidFill>
                  <a:srgbClr val="14213D"/>
                </a:solidFill>
                <a:latin typeface="Consolas" pitchFamily="34" charset="0"/>
                <a:ea typeface="Consolas" pitchFamily="34" charset="-122"/>
                <a:cs typeface="Consolas" pitchFamily="34" charset="-120"/>
              </a:rPr>
              <a:t>waiting</a:t>
            </a:r>
            <a:endParaRPr lang="en-US" sz="1500" dirty="0"/>
          </a:p>
        </p:txBody>
      </p:sp>
      <p:sp>
        <p:nvSpPr>
          <p:cNvPr id="6" name="text-83"/>
          <p:cNvSpPr txBox="1"/>
          <p:nvPr/>
        </p:nvSpPr>
        <p:spPr>
          <a:xfrm>
            <a:off x="731520" y="2194560"/>
            <a:ext cx="1965960" cy="347472"/>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AMCL active + /map, 2 s</a:t>
            </a:r>
            <a:endParaRPr lang="en-US" sz="1200" dirty="0"/>
          </a:p>
        </p:txBody>
      </p:sp>
      <p:sp>
        <p:nvSpPr>
          <p:cNvPr id="7" name="arrow-84"/>
          <p:cNvSpPr/>
          <p:nvPr/>
        </p:nvSpPr>
        <p:spPr>
          <a:xfrm>
            <a:off x="2962656" y="2066544"/>
            <a:ext cx="384048" cy="256032"/>
          </a:xfrm>
          <a:prstGeom prst="rightArrow">
            <a:avLst/>
          </a:prstGeom>
          <a:solidFill>
            <a:srgbClr val="8A94A6"/>
          </a:solidFill>
          <a:ln w="12700">
            <a:solidFill>
              <a:srgbClr val="8A94A6"/>
            </a:solidFill>
            <a:prstDash val="solid"/>
          </a:ln>
        </p:spPr>
      </p:sp>
      <p:sp>
        <p:nvSpPr>
          <p:cNvPr id="8" name="card-85"/>
          <p:cNvSpPr/>
          <p:nvPr/>
        </p:nvSpPr>
        <p:spPr>
          <a:xfrm>
            <a:off x="3429000" y="1737360"/>
            <a:ext cx="2331720" cy="914400"/>
          </a:xfrm>
          <a:prstGeom prst="roundRect">
            <a:avLst>
              <a:gd name="adj" fmla="val 12000"/>
            </a:avLst>
          </a:prstGeom>
          <a:solidFill>
            <a:srgbClr val="E8EEF8"/>
          </a:solidFill>
          <a:ln w="19050">
            <a:solidFill>
              <a:srgbClr val="2F6FDB"/>
            </a:solidFill>
            <a:prstDash val="solid"/>
          </a:ln>
        </p:spPr>
      </p:sp>
      <p:sp>
        <p:nvSpPr>
          <p:cNvPr id="9" name="text-86"/>
          <p:cNvSpPr txBox="1"/>
          <p:nvPr/>
        </p:nvSpPr>
        <p:spPr>
          <a:xfrm>
            <a:off x="3611880" y="1828800"/>
            <a:ext cx="1965960" cy="347472"/>
          </a:xfrm>
          <a:prstGeom prst="rect">
            <a:avLst/>
          </a:prstGeom>
          <a:noFill/>
          <a:ln/>
        </p:spPr>
        <p:txBody>
          <a:bodyPr wrap="square" lIns="0" tIns="0" rIns="0" bIns="0" rtlCol="0" anchor="t"/>
          <a:lstStyle/>
          <a:p>
            <a:pPr indent="0" marL="0">
              <a:buNone/>
            </a:pPr>
            <a:r>
              <a:rPr lang="en-US" sz="1500" b="1" dirty="0">
                <a:solidFill>
                  <a:srgbClr val="14213D"/>
                </a:solidFill>
                <a:latin typeface="Consolas" pitchFamily="34" charset="0"/>
                <a:ea typeface="Consolas" pitchFamily="34" charset="-122"/>
                <a:cs typeface="Consolas" pitchFamily="34" charset="-120"/>
              </a:rPr>
              <a:t>spinning</a:t>
            </a:r>
            <a:endParaRPr lang="en-US" sz="1500" dirty="0"/>
          </a:p>
        </p:txBody>
      </p:sp>
      <p:sp>
        <p:nvSpPr>
          <p:cNvPr id="10" name="text-87"/>
          <p:cNvSpPr txBox="1"/>
          <p:nvPr/>
        </p:nvSpPr>
        <p:spPr>
          <a:xfrm>
            <a:off x="3611880" y="2194560"/>
            <a:ext cx="1965960" cy="347472"/>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0.5 rad/s, 2π · 25 s</a:t>
            </a:r>
            <a:endParaRPr lang="en-US" sz="1200" dirty="0"/>
          </a:p>
        </p:txBody>
      </p:sp>
      <p:sp>
        <p:nvSpPr>
          <p:cNvPr id="11" name="arrow-88"/>
          <p:cNvSpPr/>
          <p:nvPr/>
        </p:nvSpPr>
        <p:spPr>
          <a:xfrm>
            <a:off x="5843016" y="2066544"/>
            <a:ext cx="384048" cy="256032"/>
          </a:xfrm>
          <a:prstGeom prst="rightArrow">
            <a:avLst/>
          </a:prstGeom>
          <a:solidFill>
            <a:srgbClr val="8A94A6"/>
          </a:solidFill>
          <a:ln w="12700">
            <a:solidFill>
              <a:srgbClr val="8A94A6"/>
            </a:solidFill>
            <a:prstDash val="solid"/>
          </a:ln>
        </p:spPr>
      </p:sp>
      <p:sp>
        <p:nvSpPr>
          <p:cNvPr id="12" name="card-89"/>
          <p:cNvSpPr/>
          <p:nvPr/>
        </p:nvSpPr>
        <p:spPr>
          <a:xfrm>
            <a:off x="6309360" y="1737360"/>
            <a:ext cx="2331720" cy="914400"/>
          </a:xfrm>
          <a:prstGeom prst="roundRect">
            <a:avLst>
              <a:gd name="adj" fmla="val 12000"/>
            </a:avLst>
          </a:prstGeom>
          <a:solidFill>
            <a:srgbClr val="E6F2EA"/>
          </a:solidFill>
          <a:ln w="19050">
            <a:solidFill>
              <a:srgbClr val="2E7D4F"/>
            </a:solidFill>
            <a:prstDash val="solid"/>
          </a:ln>
        </p:spPr>
      </p:sp>
      <p:sp>
        <p:nvSpPr>
          <p:cNvPr id="13" name="text-90"/>
          <p:cNvSpPr txBox="1"/>
          <p:nvPr/>
        </p:nvSpPr>
        <p:spPr>
          <a:xfrm>
            <a:off x="6492240" y="1828800"/>
            <a:ext cx="1965960" cy="347472"/>
          </a:xfrm>
          <a:prstGeom prst="rect">
            <a:avLst/>
          </a:prstGeom>
          <a:noFill/>
          <a:ln/>
        </p:spPr>
        <p:txBody>
          <a:bodyPr wrap="square" lIns="0" tIns="0" rIns="0" bIns="0" rtlCol="0" anchor="t"/>
          <a:lstStyle/>
          <a:p>
            <a:pPr indent="0" marL="0">
              <a:buNone/>
            </a:pPr>
            <a:r>
              <a:rPr lang="en-US" sz="1500" b="1" dirty="0">
                <a:solidFill>
                  <a:srgbClr val="14213D"/>
                </a:solidFill>
                <a:latin typeface="Consolas" pitchFamily="34" charset="0"/>
                <a:ea typeface="Consolas" pitchFamily="34" charset="-122"/>
                <a:cs typeface="Consolas" pitchFamily="34" charset="-120"/>
              </a:rPr>
              <a:t>found</a:t>
            </a:r>
            <a:endParaRPr lang="en-US" sz="1500" dirty="0"/>
          </a:p>
        </p:txBody>
      </p:sp>
      <p:sp>
        <p:nvSpPr>
          <p:cNvPr id="14" name="text-91"/>
          <p:cNvSpPr txBox="1"/>
          <p:nvPr/>
        </p:nvSpPr>
        <p:spPr>
          <a:xfrm>
            <a:off x="6492240" y="2194560"/>
            <a:ext cx="1965960" cy="347472"/>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지도에 표시</a:t>
            </a:r>
            <a:endParaRPr lang="en-US" sz="1200" dirty="0"/>
          </a:p>
        </p:txBody>
      </p:sp>
      <p:sp>
        <p:nvSpPr>
          <p:cNvPr id="15" name="text-92"/>
          <p:cNvSpPr txBox="1"/>
          <p:nvPr/>
        </p:nvSpPr>
        <p:spPr>
          <a:xfrm>
            <a:off x="8686800" y="2011680"/>
            <a:ext cx="548640" cy="365760"/>
          </a:xfrm>
          <a:prstGeom prst="rect">
            <a:avLst/>
          </a:prstGeom>
          <a:noFill/>
          <a:ln/>
        </p:spPr>
        <p:txBody>
          <a:bodyPr wrap="square" lIns="0" tIns="0" rIns="0" bIns="0" rtlCol="0" anchor="t"/>
          <a:lstStyle/>
          <a:p>
            <a:pPr algn="ctr" indent="0" marL="0">
              <a:buNone/>
            </a:pPr>
            <a:r>
              <a:rPr lang="en-US" sz="1300" dirty="0">
                <a:solidFill>
                  <a:srgbClr val="8A94A6"/>
                </a:solidFill>
                <a:latin typeface="Malgun Gothic" pitchFamily="34" charset="0"/>
                <a:ea typeface="Malgun Gothic" pitchFamily="34" charset="-122"/>
                <a:cs typeface="Malgun Gothic" pitchFamily="34" charset="-120"/>
              </a:rPr>
              <a:t>또는</a:t>
            </a:r>
            <a:endParaRPr lang="en-US" sz="1300" dirty="0"/>
          </a:p>
        </p:txBody>
      </p:sp>
      <p:sp>
        <p:nvSpPr>
          <p:cNvPr id="16" name="card-93"/>
          <p:cNvSpPr/>
          <p:nvPr/>
        </p:nvSpPr>
        <p:spPr>
          <a:xfrm>
            <a:off x="9308592" y="1737360"/>
            <a:ext cx="2331720" cy="914400"/>
          </a:xfrm>
          <a:prstGeom prst="roundRect">
            <a:avLst>
              <a:gd name="adj" fmla="val 12000"/>
            </a:avLst>
          </a:prstGeom>
          <a:solidFill>
            <a:srgbClr val="FFF4E6"/>
          </a:solidFill>
          <a:ln w="19050">
            <a:solidFill>
              <a:srgbClr val="D9822B"/>
            </a:solidFill>
            <a:prstDash val="solid"/>
          </a:ln>
        </p:spPr>
      </p:sp>
      <p:sp>
        <p:nvSpPr>
          <p:cNvPr id="17" name="text-94"/>
          <p:cNvSpPr txBox="1"/>
          <p:nvPr/>
        </p:nvSpPr>
        <p:spPr>
          <a:xfrm>
            <a:off x="9491472" y="1828800"/>
            <a:ext cx="1965960" cy="347472"/>
          </a:xfrm>
          <a:prstGeom prst="rect">
            <a:avLst/>
          </a:prstGeom>
          <a:noFill/>
          <a:ln/>
        </p:spPr>
        <p:txBody>
          <a:bodyPr wrap="square" lIns="0" tIns="0" rIns="0" bIns="0" rtlCol="0" anchor="t"/>
          <a:lstStyle/>
          <a:p>
            <a:pPr indent="0" marL="0">
              <a:buNone/>
            </a:pPr>
            <a:r>
              <a:rPr lang="en-US" sz="1500" b="1" dirty="0">
                <a:solidFill>
                  <a:srgbClr val="14213D"/>
                </a:solidFill>
                <a:latin typeface="Consolas" pitchFamily="34" charset="0"/>
                <a:ea typeface="Consolas" pitchFamily="34" charset="-122"/>
                <a:cs typeface="Consolas" pitchFamily="34" charset="-120"/>
              </a:rPr>
              <a:t>unsure</a:t>
            </a:r>
            <a:endParaRPr lang="en-US" sz="1500" dirty="0"/>
          </a:p>
        </p:txBody>
      </p:sp>
      <p:sp>
        <p:nvSpPr>
          <p:cNvPr id="18" name="text-95"/>
          <p:cNvSpPr txBox="1"/>
          <p:nvPr/>
        </p:nvSpPr>
        <p:spPr>
          <a:xfrm>
            <a:off x="9491472" y="2194560"/>
            <a:ext cx="1965960" cy="347472"/>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 재시도 · ↗ 수동</a:t>
            </a:r>
            <a:endParaRPr lang="en-US" sz="1200" dirty="0"/>
          </a:p>
        </p:txBody>
      </p:sp>
      <p:graphicFrame>
        <p:nvGraphicFramePr>
          <p:cNvPr id="9" name="table-96"/>
          <p:cNvGraphicFramePr>
            <a:graphicFrameLocks noGrp="1"/>
          </p:cNvGraphicFramePr>
          <p:nvPr>
            <p:extLst>
              <p:ext uri="{D42A27DB-BD31-4B8C-83A1-F6EECF244321}">
                <p14:modId xmlns:p14="http://schemas.microsoft.com/office/powerpoint/2010/main" val="1579011935"/>
              </p:ext>
            </p:extLst>
          </p:nvPr>
        </p:nvGraphicFramePr>
        <p:xfrm>
          <a:off x="548640" y="2971800"/>
          <a:ext cx="11094415" cy="914400"/>
        </p:xfrm>
        <a:graphic>
          <a:graphicData uri="http://schemas.openxmlformats.org/drawingml/2006/table">
            <a:tbl>
              <a:tblPr/>
              <a:tblGrid>
                <a:gridCol w="3017520"/>
                <a:gridCol w="2560320"/>
                <a:gridCol w="5516575"/>
              </a:tblGrid>
              <a:tr h="457200">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수렴 판정 상수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값</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이유</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r>
              <a:tr h="45720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XY_STD · YAW_STD</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0.20 m · 0.25 rad</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amcl_pose 공분산의 표준편차 기준</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STEADY</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연속 3회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우연한 일시 수렴은 믿지 않는다</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45720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QUIET_UPDATES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10회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정지 상태 nomotion update 상한 (auto_spin 끔)</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SPIN_TIMEOUT</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25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odom이 끊겨 회전량을 못 재도 강제 정지</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bl>
          </a:graphicData>
        </a:graphic>
      </p:graphicFrame>
      <p:sp>
        <p:nvSpPr>
          <p:cNvPr id="20" name="text-97"/>
          <p:cNvSpPr txBox="1"/>
          <p:nvPr/>
        </p:nvSpPr>
        <p:spPr>
          <a:xfrm>
            <a:off x="548640" y="5440680"/>
            <a:ext cx="11094415" cy="365760"/>
          </a:xfrm>
          <a:prstGeom prst="rect">
            <a:avLst/>
          </a:prstGeom>
          <a:noFill/>
          <a:ln/>
        </p:spPr>
        <p:txBody>
          <a:bodyPr wrap="square" lIns="0" tIns="0" rIns="0" bIns="0" rtlCol="0" anchor="t"/>
          <a:lstStyle/>
          <a:p>
            <a:pPr indent="0" marL="0">
              <a:buNone/>
            </a:pPr>
            <a:r>
              <a:rPr lang="en-US" sz="1400" dirty="0">
                <a:solidFill>
                  <a:srgbClr val="4A5568"/>
                </a:solidFill>
                <a:latin typeface="Malgun Gothic" pitchFamily="34" charset="0"/>
                <a:ea typeface="Malgun Gothic" pitchFamily="34" charset="-122"/>
                <a:cs typeface="Malgun Gothic" pitchFamily="34" charset="-120"/>
              </a:rPr>
              <a:t>고정 출발점(home pose) 방식은 구현했다가 되돌림. 로봇을 특정 자리에 묶지 않기 위해</a:t>
            </a:r>
            <a:endParaRPr lang="en-US" sz="14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03 · 교통 정리</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예약에서 양보로: 안전하지만 답답한 v1을 버렸다</a:t>
            </a:r>
            <a:endParaRPr lang="en-US" sz="2800" dirty="0"/>
          </a:p>
        </p:txBody>
      </p:sp>
      <p:sp>
        <p:nvSpPr>
          <p:cNvPr id="4" name="card-98"/>
          <p:cNvSpPr/>
          <p:nvPr/>
        </p:nvSpPr>
        <p:spPr>
          <a:xfrm>
            <a:off x="548640" y="1737360"/>
            <a:ext cx="5120640" cy="4343400"/>
          </a:xfrm>
          <a:prstGeom prst="roundRect">
            <a:avLst>
              <a:gd name="adj" fmla="val 2526"/>
            </a:avLst>
          </a:prstGeom>
          <a:solidFill>
            <a:srgbClr val="F3F5F8"/>
          </a:solidFill>
          <a:ln w="9525">
            <a:solidFill>
              <a:srgbClr val="F3F5F8"/>
            </a:solidFill>
            <a:prstDash val="solid"/>
          </a:ln>
        </p:spPr>
      </p:sp>
      <p:sp>
        <p:nvSpPr>
          <p:cNvPr id="5" name="text-99"/>
          <p:cNvSpPr txBox="1"/>
          <p:nvPr/>
        </p:nvSpPr>
        <p:spPr>
          <a:xfrm>
            <a:off x="914400" y="1965960"/>
            <a:ext cx="4389120" cy="320040"/>
          </a:xfrm>
          <a:prstGeom prst="rect">
            <a:avLst/>
          </a:prstGeom>
          <a:noFill/>
          <a:ln/>
        </p:spPr>
        <p:txBody>
          <a:bodyPr wrap="square" lIns="0" tIns="0" rIns="0" bIns="0" rtlCol="0" anchor="t"/>
          <a:lstStyle/>
          <a:p>
            <a:pPr indent="0" marL="0">
              <a:buNone/>
            </a:pPr>
            <a:r>
              <a:rPr lang="en-US" sz="1300" dirty="0">
                <a:solidFill>
                  <a:srgbClr val="8A94A6"/>
                </a:solidFill>
                <a:latin typeface="Consolas" pitchFamily="34" charset="0"/>
                <a:ea typeface="Consolas" pitchFamily="34" charset="-122"/>
                <a:cs typeface="Consolas" pitchFamily="34" charset="-120"/>
              </a:rPr>
              <a:t>v1 · TrafficGate</a:t>
            </a:r>
            <a:endParaRPr lang="en-US" sz="1300" dirty="0"/>
          </a:p>
        </p:txBody>
      </p:sp>
      <p:sp>
        <p:nvSpPr>
          <p:cNvPr id="6" name="text-100"/>
          <p:cNvSpPr txBox="1"/>
          <p:nvPr/>
        </p:nvSpPr>
        <p:spPr>
          <a:xfrm>
            <a:off x="914400" y="2331720"/>
            <a:ext cx="4389120" cy="457200"/>
          </a:xfrm>
          <a:prstGeom prst="rect">
            <a:avLst/>
          </a:prstGeom>
          <a:noFill/>
          <a:ln/>
        </p:spPr>
        <p:txBody>
          <a:bodyPr wrap="square" lIns="0" tIns="0" rIns="0" bIns="0" rtlCol="0" anchor="t"/>
          <a:lstStyle/>
          <a:p>
            <a:pPr indent="0" marL="0">
              <a:buNone/>
            </a:pPr>
            <a:r>
              <a:rPr lang="en-US" sz="2000" b="1" dirty="0">
                <a:solidFill>
                  <a:srgbClr val="14213D"/>
                </a:solidFill>
                <a:latin typeface="Malgun Gothic" pitchFamily="34" charset="0"/>
                <a:ea typeface="Malgun Gothic" pitchFamily="34" charset="-122"/>
                <a:cs typeface="Malgun Gothic" pitchFamily="34" charset="-120"/>
              </a:rPr>
              <a:t>칸 열쇠 (출발 전 예약)</a:t>
            </a:r>
            <a:endParaRPr lang="en-US" sz="2000" dirty="0"/>
          </a:p>
        </p:txBody>
      </p:sp>
      <p:sp>
        <p:nvSpPr>
          <p:cNvPr id="7" name="text-101"/>
          <p:cNvSpPr txBox="1"/>
          <p:nvPr/>
        </p:nvSpPr>
        <p:spPr>
          <a:xfrm>
            <a:off x="914400" y="2926080"/>
            <a:ext cx="4389120" cy="210312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500" dirty="0">
                <a:solidFill>
                  <a:srgbClr val="4A5568"/>
                </a:solidFill>
                <a:latin typeface="Malgun Gothic" pitchFamily="34" charset="0"/>
                <a:ea typeface="Malgun Gothic" pitchFamily="34" charset="-122"/>
                <a:cs typeface="Malgun Gothic" pitchFamily="34" charset="-120"/>
              </a:rPr>
              <a:t>지도를 칸 4개 + 좁은 통로 2개로 분할</a:t>
            </a:r>
            <a:endParaRPr lang="en-US" sz="1500" dirty="0"/>
          </a:p>
          <a:p>
            <a:pPr marL="342900" indent="-342900">
              <a:lnSpc>
                <a:spcPct val="120000"/>
              </a:lnSpc>
              <a:spcAft>
                <a:spcPts val="600"/>
              </a:spcAft>
              <a:buSzPct val="100000"/>
              <a:buChar char="•"/>
            </a:pPr>
            <a:r>
              <a:rPr lang="en-US" sz="1500" dirty="0">
                <a:solidFill>
                  <a:srgbClr val="4A5568"/>
                </a:solidFill>
                <a:latin typeface="Malgun Gothic" pitchFamily="34" charset="0"/>
                <a:ea typeface="Malgun Gothic" pitchFamily="34" charset="-122"/>
                <a:cs typeface="Malgun Gothic" pitchFamily="34" charset="-120"/>
              </a:rPr>
              <a:t>칸 그래프 BFS로 지나갈 칸 계산</a:t>
            </a:r>
            <a:endParaRPr lang="en-US" sz="1500" dirty="0"/>
          </a:p>
          <a:p>
            <a:pPr marL="342900" indent="-342900">
              <a:lnSpc>
                <a:spcPct val="120000"/>
              </a:lnSpc>
              <a:spcAft>
                <a:spcPts val="600"/>
              </a:spcAft>
              <a:buSzPct val="100000"/>
              <a:buChar char="•"/>
            </a:pPr>
            <a:r>
              <a:rPr lang="en-US" sz="1500" dirty="0">
                <a:solidFill>
                  <a:srgbClr val="4A5568"/>
                </a:solidFill>
                <a:latin typeface="Malgun Gothic" pitchFamily="34" charset="0"/>
                <a:ea typeface="Malgun Gothic" pitchFamily="34" charset="-122"/>
                <a:cs typeface="Malgun Gothic" pitchFamily="34" charset="-120"/>
              </a:rPr>
              <a:t>열쇠를 all-or-nothing으로 획득, 아니면 FIFO 대기</a:t>
            </a:r>
            <a:endParaRPr lang="en-US" sz="1500" dirty="0"/>
          </a:p>
          <a:p>
            <a:pPr marL="342900" indent="-342900">
              <a:lnSpc>
                <a:spcPct val="120000"/>
              </a:lnSpc>
              <a:spcAft>
                <a:spcPts val="600"/>
              </a:spcAft>
              <a:buSzPct val="100000"/>
              <a:buChar char="•"/>
            </a:pPr>
            <a:r>
              <a:rPr lang="en-US" sz="1500" dirty="0">
                <a:solidFill>
                  <a:srgbClr val="4A5568"/>
                </a:solidFill>
                <a:latin typeface="Malgun Gothic" pitchFamily="34" charset="0"/>
                <a:ea typeface="Malgun Gothic" pitchFamily="34" charset="-122"/>
                <a:cs typeface="Malgun Gothic" pitchFamily="34" charset="-120"/>
              </a:rPr>
              <a:t>hold-and-wait 없음 → 교착 불가</a:t>
            </a:r>
            <a:endParaRPr lang="en-US" sz="1500" dirty="0"/>
          </a:p>
        </p:txBody>
      </p:sp>
      <p:sp>
        <p:nvSpPr>
          <p:cNvPr id="8" name="text-102"/>
          <p:cNvSpPr txBox="1"/>
          <p:nvPr/>
        </p:nvSpPr>
        <p:spPr>
          <a:xfrm>
            <a:off x="914400" y="5212080"/>
            <a:ext cx="4389120" cy="640080"/>
          </a:xfrm>
          <a:prstGeom prst="rect">
            <a:avLst/>
          </a:prstGeom>
          <a:noFill/>
          <a:ln/>
        </p:spPr>
        <p:txBody>
          <a:bodyPr wrap="square" lIns="0" tIns="0" rIns="0" bIns="0" rtlCol="0" anchor="t"/>
          <a:lstStyle/>
          <a:p>
            <a:pPr indent="0" marL="0">
              <a:buNone/>
            </a:pPr>
            <a:r>
              <a:rPr lang="en-US" sz="1500" b="1" dirty="0">
                <a:solidFill>
                  <a:srgbClr val="A85A12"/>
                </a:solidFill>
                <a:latin typeface="Malgun Gothic" pitchFamily="34" charset="0"/>
                <a:ea typeface="Malgun Gothic" pitchFamily="34" charset="-122"/>
                <a:cs typeface="Malgun Gothic" pitchFamily="34" charset="-120"/>
              </a:rPr>
              <a:t>한계: 경로가 조금만 겹쳐도 robot2가 출발조차 안 함</a:t>
            </a:r>
            <a:endParaRPr lang="en-US" sz="1500" dirty="0"/>
          </a:p>
        </p:txBody>
      </p:sp>
      <p:sp>
        <p:nvSpPr>
          <p:cNvPr id="9" name="v1-v2"/>
          <p:cNvSpPr/>
          <p:nvPr/>
        </p:nvSpPr>
        <p:spPr>
          <a:xfrm>
            <a:off x="5843016" y="3703320"/>
            <a:ext cx="457200" cy="384048"/>
          </a:xfrm>
          <a:prstGeom prst="rightArrow">
            <a:avLst/>
          </a:prstGeom>
          <a:solidFill>
            <a:srgbClr val="2F6FDB"/>
          </a:solidFill>
          <a:ln w="12700">
            <a:solidFill>
              <a:srgbClr val="2F6FDB"/>
            </a:solidFill>
            <a:prstDash val="solid"/>
          </a:ln>
        </p:spPr>
      </p:sp>
      <p:sp>
        <p:nvSpPr>
          <p:cNvPr id="10" name="card-103"/>
          <p:cNvSpPr/>
          <p:nvPr/>
        </p:nvSpPr>
        <p:spPr>
          <a:xfrm>
            <a:off x="6519672" y="1737360"/>
            <a:ext cx="5120640" cy="4343400"/>
          </a:xfrm>
          <a:prstGeom prst="roundRect">
            <a:avLst>
              <a:gd name="adj" fmla="val 2526"/>
            </a:avLst>
          </a:prstGeom>
          <a:solidFill>
            <a:srgbClr val="14213D"/>
          </a:solidFill>
          <a:ln w="9525">
            <a:solidFill>
              <a:srgbClr val="14213D"/>
            </a:solidFill>
            <a:prstDash val="solid"/>
          </a:ln>
        </p:spPr>
      </p:sp>
      <p:sp>
        <p:nvSpPr>
          <p:cNvPr id="11" name="text-104"/>
          <p:cNvSpPr txBox="1"/>
          <p:nvPr/>
        </p:nvSpPr>
        <p:spPr>
          <a:xfrm>
            <a:off x="6885432" y="1965960"/>
            <a:ext cx="4389120" cy="320040"/>
          </a:xfrm>
          <a:prstGeom prst="rect">
            <a:avLst/>
          </a:prstGeom>
          <a:noFill/>
          <a:ln/>
        </p:spPr>
        <p:txBody>
          <a:bodyPr wrap="square" lIns="0" tIns="0" rIns="0" bIns="0" rtlCol="0" anchor="t"/>
          <a:lstStyle/>
          <a:p>
            <a:pPr indent="0" marL="0">
              <a:buNone/>
            </a:pPr>
            <a:r>
              <a:rPr lang="en-US" sz="1300" dirty="0">
                <a:solidFill>
                  <a:srgbClr val="8FB3F0"/>
                </a:solidFill>
                <a:latin typeface="Consolas" pitchFamily="34" charset="0"/>
                <a:ea typeface="Consolas" pitchFamily="34" charset="-122"/>
                <a:cs typeface="Consolas" pitchFamily="34" charset="-120"/>
              </a:rPr>
              <a:t>v2 · YieldRule (현재)</a:t>
            </a:r>
            <a:endParaRPr lang="en-US" sz="1300" dirty="0"/>
          </a:p>
        </p:txBody>
      </p:sp>
      <p:sp>
        <p:nvSpPr>
          <p:cNvPr id="12" name="text-105"/>
          <p:cNvSpPr txBox="1"/>
          <p:nvPr/>
        </p:nvSpPr>
        <p:spPr>
          <a:xfrm>
            <a:off x="6885432" y="2331720"/>
            <a:ext cx="4389120" cy="457200"/>
          </a:xfrm>
          <a:prstGeom prst="rect">
            <a:avLst/>
          </a:prstGeom>
          <a:noFill/>
          <a:ln/>
        </p:spPr>
        <p:txBody>
          <a:bodyPr wrap="square" lIns="0" tIns="0" rIns="0" bIns="0" rtlCol="0" anchor="t"/>
          <a:lstStyle/>
          <a:p>
            <a:pPr indent="0" marL="0">
              <a:buNone/>
            </a:pPr>
            <a:r>
              <a:rPr lang="en-US" sz="2000" b="1" dirty="0">
                <a:solidFill>
                  <a:srgbClr val="F6F7F4"/>
                </a:solidFill>
                <a:latin typeface="Malgun Gothic" pitchFamily="34" charset="0"/>
                <a:ea typeface="Malgun Gothic" pitchFamily="34" charset="-122"/>
                <a:cs typeface="Malgun Gothic" pitchFamily="34" charset="-120"/>
              </a:rPr>
              <a:t>달리면서 양보</a:t>
            </a:r>
            <a:endParaRPr lang="en-US" sz="2000" dirty="0"/>
          </a:p>
        </p:txBody>
      </p:sp>
      <p:sp>
        <p:nvSpPr>
          <p:cNvPr id="13" name="text-106"/>
          <p:cNvSpPr txBox="1"/>
          <p:nvPr/>
        </p:nvSpPr>
        <p:spPr>
          <a:xfrm>
            <a:off x="6885432" y="2926080"/>
            <a:ext cx="4389120" cy="210312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500" dirty="0">
                <a:solidFill>
                  <a:srgbClr val="C9D3E3"/>
                </a:solidFill>
                <a:latin typeface="Malgun Gothic" pitchFamily="34" charset="0"/>
                <a:ea typeface="Malgun Gothic" pitchFamily="34" charset="-122"/>
                <a:cs typeface="Malgun Gothic" pitchFamily="34" charset="-120"/>
              </a:rPr>
              <a:t>0.2 s마다 두 로봇의 Nav2 계획 경로 비교</a:t>
            </a:r>
            <a:endParaRPr lang="en-US" sz="1500" dirty="0"/>
          </a:p>
          <a:p>
            <a:pPr marL="342900" indent="-342900">
              <a:lnSpc>
                <a:spcPct val="120000"/>
              </a:lnSpc>
              <a:spcAft>
                <a:spcPts val="600"/>
              </a:spcAft>
              <a:buSzPct val="100000"/>
              <a:buChar char="•"/>
            </a:pPr>
            <a:r>
              <a:rPr lang="en-US" sz="1500" dirty="0">
                <a:solidFill>
                  <a:srgbClr val="C9D3E3"/>
                </a:solidFill>
                <a:latin typeface="Malgun Gothic" pitchFamily="34" charset="0"/>
                <a:ea typeface="Malgun Gothic" pitchFamily="34" charset="-122"/>
                <a:cs typeface="Malgun Gothic" pitchFamily="34" charset="-120"/>
              </a:rPr>
              <a:t>고정 우선순위: robot1 먼저, robot2 양보</a:t>
            </a:r>
            <a:endParaRPr lang="en-US" sz="1500" dirty="0"/>
          </a:p>
          <a:p>
            <a:pPr marL="342900" indent="-342900">
              <a:lnSpc>
                <a:spcPct val="120000"/>
              </a:lnSpc>
              <a:spcAft>
                <a:spcPts val="600"/>
              </a:spcAft>
              <a:buSzPct val="100000"/>
              <a:buChar char="•"/>
            </a:pPr>
            <a:r>
              <a:rPr lang="en-US" sz="1500" dirty="0">
                <a:solidFill>
                  <a:srgbClr val="C9D3E3"/>
                </a:solidFill>
                <a:latin typeface="Malgun Gothic" pitchFamily="34" charset="0"/>
                <a:ea typeface="Malgun Gothic" pitchFamily="34" charset="-122"/>
                <a:cs typeface="Malgun Gothic" pitchFamily="34" charset="-120"/>
              </a:rPr>
              <a:t>겹치면 stop, 상대 경로 위면 back</a:t>
            </a:r>
            <a:endParaRPr lang="en-US" sz="1500" dirty="0"/>
          </a:p>
          <a:p>
            <a:pPr marL="342900" indent="-342900">
              <a:lnSpc>
                <a:spcPct val="120000"/>
              </a:lnSpc>
              <a:spcAft>
                <a:spcPts val="600"/>
              </a:spcAft>
              <a:buSzPct val="100000"/>
              <a:buChar char="•"/>
            </a:pPr>
            <a:r>
              <a:rPr lang="en-US" sz="1500" dirty="0">
                <a:solidFill>
                  <a:srgbClr val="C9D3E3"/>
                </a:solidFill>
                <a:latin typeface="Malgun Gothic" pitchFamily="34" charset="0"/>
                <a:ea typeface="Malgun Gothic" pitchFamily="34" charset="-122"/>
                <a:cs typeface="Malgun Gothic" pitchFamily="34" charset="-120"/>
              </a:rPr>
              <a:t>robot1이 지나가면 기억한 목적지로 자동 재출발</a:t>
            </a:r>
            <a:endParaRPr lang="en-US" sz="1500" dirty="0"/>
          </a:p>
        </p:txBody>
      </p:sp>
      <p:sp>
        <p:nvSpPr>
          <p:cNvPr id="14" name="text-107"/>
          <p:cNvSpPr txBox="1"/>
          <p:nvPr/>
        </p:nvSpPr>
        <p:spPr>
          <a:xfrm>
            <a:off x="6885432" y="5212080"/>
            <a:ext cx="4389120" cy="640080"/>
          </a:xfrm>
          <a:prstGeom prst="rect">
            <a:avLst/>
          </a:prstGeom>
          <a:noFill/>
          <a:ln/>
        </p:spPr>
        <p:txBody>
          <a:bodyPr wrap="square" lIns="0" tIns="0" rIns="0" bIns="0" rtlCol="0" anchor="t"/>
          <a:lstStyle/>
          <a:p>
            <a:pPr indent="0" marL="0">
              <a:buNone/>
            </a:pPr>
            <a:r>
              <a:rPr lang="en-US" sz="1500" b="1" dirty="0">
                <a:solidFill>
                  <a:srgbClr val="F2A65A"/>
                </a:solidFill>
                <a:latin typeface="Malgun Gothic" pitchFamily="34" charset="0"/>
                <a:ea typeface="Malgun Gothic" pitchFamily="34" charset="-122"/>
                <a:cs typeface="Malgun Gothic" pitchFamily="34" charset="-120"/>
              </a:rPr>
              <a:t>둘이 같이 움직이다 부딪힐 때만 비킨다</a:t>
            </a:r>
            <a:endParaRPr lang="en-US" sz="15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03 · YieldRule.decide()</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앞쪽 경로만 잘라서, 꺾은선 거리로 판단</a:t>
            </a:r>
            <a:endParaRPr lang="en-US" sz="2800" dirty="0"/>
          </a:p>
        </p:txBody>
      </p:sp>
      <p:sp>
        <p:nvSpPr>
          <p:cNvPr id="4" name="card-108"/>
          <p:cNvSpPr/>
          <p:nvPr/>
        </p:nvSpPr>
        <p:spPr>
          <a:xfrm>
            <a:off x="548640" y="1737360"/>
            <a:ext cx="6675120" cy="3931920"/>
          </a:xfrm>
          <a:prstGeom prst="roundRect">
            <a:avLst>
              <a:gd name="adj" fmla="val 2791"/>
            </a:avLst>
          </a:prstGeom>
          <a:solidFill>
            <a:srgbClr val="14213D"/>
          </a:solidFill>
          <a:ln w="9525">
            <a:solidFill>
              <a:srgbClr val="14213D"/>
            </a:solidFill>
            <a:prstDash val="solid"/>
          </a:ln>
        </p:spPr>
      </p:sp>
      <p:sp>
        <p:nvSpPr>
          <p:cNvPr id="5" name="text-109"/>
          <p:cNvSpPr txBox="1"/>
          <p:nvPr/>
        </p:nvSpPr>
        <p:spPr>
          <a:xfrm>
            <a:off x="868680" y="2011680"/>
            <a:ext cx="6035040" cy="338328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if not leader.active: return "go"</a:t>
            </a:r>
            <a:endParaRPr lang="en-US" sz="1400" dirty="0"/>
          </a:p>
          <a:p>
            <a:pPr indent="0" marL="0">
              <a:lnSpc>
                <a:spcPct val="125000"/>
              </a:lnSpc>
              <a:buNone/>
            </a:pPr>
            <a:r>
              <a:rPr lang="en-US" sz="1400" dirty="0">
                <a:solidFill>
                  <a:srgbClr val="8A94A6"/>
                </a:solidFill>
                <a:latin typeface="Consolas" pitchFamily="34" charset="0"/>
                <a:ea typeface="Consolas" pitchFamily="34" charset="-122"/>
                <a:cs typeface="Consolas" pitchFamily="34" charset="-120"/>
              </a:rPr>
              <a:t># 하던 동작에만 여유 R (떨림 방지)</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back_gap = D + R·(prev == "back")</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stop_gap = D + R·(prev != "go")</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lead  = path_ahead(leader, 0.8)</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if dist(me.pose, lead) &lt; back_gap:</a:t>
            </a:r>
            <a:endParaRPr lang="en-US" sz="1400" dirty="0"/>
          </a:p>
          <a:p>
            <a:pPr indent="0" marL="0">
              <a:lnSpc>
                <a:spcPct val="125000"/>
              </a:lnSpc>
              <a:buNone/>
            </a:pPr>
            <a:r>
              <a:rPr lang="en-US" sz="1400" dirty="0">
                <a:solidFill>
                  <a:srgbClr val="F2A65A"/>
                </a:solidFill>
                <a:latin typeface="Consolas" pitchFamily="34" charset="0"/>
                <a:ea typeface="Consolas" pitchFamily="34" charset="-122"/>
                <a:cs typeface="Consolas" pitchFamily="34" charset="-120"/>
              </a:rPr>
              <a:t>    return "back"   # 내가 상대 경로 위</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ahead = path_ahead(me, 0.5)</a:t>
            </a:r>
            <a:endParaRPr lang="en-US" sz="1400" dirty="0"/>
          </a:p>
          <a:p>
            <a:pPr indent="0" marL="0">
              <a:lnSpc>
                <a:spcPct val="125000"/>
              </a:lnSpc>
              <a:buNone/>
            </a:pPr>
            <a:r>
              <a:rPr lang="en-US" sz="1400" dirty="0">
                <a:solidFill>
                  <a:srgbClr val="FFFFFF"/>
                </a:solidFill>
                <a:latin typeface="Consolas" pitchFamily="34" charset="0"/>
                <a:ea typeface="Consolas" pitchFamily="34" charset="-122"/>
                <a:cs typeface="Consolas" pitchFamily="34" charset="-120"/>
              </a:rPr>
              <a:t>if dist(ahead, lead) &lt; stop_gap:</a:t>
            </a:r>
            <a:endParaRPr lang="en-US" sz="1400" dirty="0"/>
          </a:p>
          <a:p>
            <a:pPr indent="0" marL="0">
              <a:lnSpc>
                <a:spcPct val="125000"/>
              </a:lnSpc>
              <a:buNone/>
            </a:pPr>
            <a:r>
              <a:rPr lang="en-US" sz="1400" dirty="0">
                <a:solidFill>
                  <a:srgbClr val="F2A65A"/>
                </a:solidFill>
                <a:latin typeface="Consolas" pitchFamily="34" charset="0"/>
                <a:ea typeface="Consolas" pitchFamily="34" charset="-122"/>
                <a:cs typeface="Consolas" pitchFamily="34" charset="-120"/>
              </a:rPr>
              <a:t>    return "stop"   # 앞 경로가 겹침</a:t>
            </a:r>
            <a:endParaRPr lang="en-US" sz="1400" dirty="0"/>
          </a:p>
          <a:p>
            <a:pPr indent="0" marL="0">
              <a:lnSpc>
                <a:spcPct val="125000"/>
              </a:lnSpc>
              <a:buNone/>
            </a:pPr>
            <a:r>
              <a:rPr lang="en-US" sz="1400" dirty="0">
                <a:solidFill>
                  <a:srgbClr val="8FB3F0"/>
                </a:solidFill>
                <a:latin typeface="Consolas" pitchFamily="34" charset="0"/>
                <a:ea typeface="Consolas" pitchFamily="34" charset="-122"/>
                <a:cs typeface="Consolas" pitchFamily="34" charset="-120"/>
              </a:rPr>
              <a:t>return "go"</a:t>
            </a:r>
            <a:endParaRPr lang="en-US" sz="1400" dirty="0"/>
          </a:p>
        </p:txBody>
      </p:sp>
      <p:sp>
        <p:nvSpPr>
          <p:cNvPr id="6" name="card-110"/>
          <p:cNvSpPr/>
          <p:nvPr/>
        </p:nvSpPr>
        <p:spPr>
          <a:xfrm>
            <a:off x="7498080" y="1737360"/>
            <a:ext cx="4142232" cy="1188720"/>
          </a:xfrm>
          <a:prstGeom prst="roundRect">
            <a:avLst>
              <a:gd name="adj" fmla="val 9231"/>
            </a:avLst>
          </a:prstGeom>
          <a:solidFill>
            <a:srgbClr val="F3F5F8"/>
          </a:solidFill>
          <a:ln w="9525">
            <a:solidFill>
              <a:srgbClr val="F3F5F8"/>
            </a:solidFill>
            <a:prstDash val="solid"/>
          </a:ln>
        </p:spPr>
      </p:sp>
      <p:sp>
        <p:nvSpPr>
          <p:cNvPr id="7" name="text-111"/>
          <p:cNvSpPr txBox="1"/>
          <p:nvPr/>
        </p:nvSpPr>
        <p:spPr>
          <a:xfrm>
            <a:off x="7772400" y="1901952"/>
            <a:ext cx="3611880" cy="347472"/>
          </a:xfrm>
          <a:prstGeom prst="rect">
            <a:avLst/>
          </a:prstGeom>
          <a:noFill/>
          <a:ln/>
        </p:spPr>
        <p:txBody>
          <a:bodyPr wrap="square" lIns="0" tIns="0" rIns="0" bIns="0" rtlCol="0" anchor="t"/>
          <a:lstStyle/>
          <a:p>
            <a:pPr indent="0" marL="0">
              <a:buNone/>
            </a:pPr>
            <a:r>
              <a:rPr lang="en-US" sz="1600" b="1" dirty="0">
                <a:solidFill>
                  <a:srgbClr val="14213D"/>
                </a:solidFill>
                <a:latin typeface="Consolas" pitchFamily="34" charset="0"/>
                <a:ea typeface="Consolas" pitchFamily="34" charset="-122"/>
                <a:cs typeface="Consolas" pitchFamily="34" charset="-120"/>
              </a:rPr>
              <a:t>stop</a:t>
            </a:r>
            <a:endParaRPr lang="en-US" sz="1600" dirty="0"/>
          </a:p>
        </p:txBody>
      </p:sp>
      <p:sp>
        <p:nvSpPr>
          <p:cNvPr id="8" name="text-112"/>
          <p:cNvSpPr txBox="1"/>
          <p:nvPr/>
        </p:nvSpPr>
        <p:spPr>
          <a:xfrm>
            <a:off x="7772400" y="2267712"/>
            <a:ext cx="3611880" cy="566928"/>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목적지 기억 → Nav2 목표 취소 → 대기</a:t>
            </a:r>
            <a:endParaRPr lang="en-US" sz="1300" dirty="0"/>
          </a:p>
        </p:txBody>
      </p:sp>
      <p:sp>
        <p:nvSpPr>
          <p:cNvPr id="9" name="card-113"/>
          <p:cNvSpPr/>
          <p:nvPr/>
        </p:nvSpPr>
        <p:spPr>
          <a:xfrm>
            <a:off x="7498080" y="3081528"/>
            <a:ext cx="4142232" cy="1188720"/>
          </a:xfrm>
          <a:prstGeom prst="roundRect">
            <a:avLst>
              <a:gd name="adj" fmla="val 9231"/>
            </a:avLst>
          </a:prstGeom>
          <a:solidFill>
            <a:srgbClr val="F3F5F8"/>
          </a:solidFill>
          <a:ln w="9525">
            <a:solidFill>
              <a:srgbClr val="F3F5F8"/>
            </a:solidFill>
            <a:prstDash val="solid"/>
          </a:ln>
        </p:spPr>
      </p:sp>
      <p:sp>
        <p:nvSpPr>
          <p:cNvPr id="10" name="text-114"/>
          <p:cNvSpPr txBox="1"/>
          <p:nvPr/>
        </p:nvSpPr>
        <p:spPr>
          <a:xfrm>
            <a:off x="7772400" y="3246120"/>
            <a:ext cx="3611880" cy="347472"/>
          </a:xfrm>
          <a:prstGeom prst="rect">
            <a:avLst/>
          </a:prstGeom>
          <a:noFill/>
          <a:ln/>
        </p:spPr>
        <p:txBody>
          <a:bodyPr wrap="square" lIns="0" tIns="0" rIns="0" bIns="0" rtlCol="0" anchor="t"/>
          <a:lstStyle/>
          <a:p>
            <a:pPr indent="0" marL="0">
              <a:buNone/>
            </a:pPr>
            <a:r>
              <a:rPr lang="en-US" sz="1600" b="1" dirty="0">
                <a:solidFill>
                  <a:srgbClr val="14213D"/>
                </a:solidFill>
                <a:latin typeface="Consolas" pitchFamily="34" charset="0"/>
                <a:ea typeface="Consolas" pitchFamily="34" charset="-122"/>
                <a:cs typeface="Consolas" pitchFamily="34" charset="-120"/>
              </a:rPr>
              <a:t>back</a:t>
            </a:r>
            <a:endParaRPr lang="en-US" sz="1600" dirty="0"/>
          </a:p>
        </p:txBody>
      </p:sp>
      <p:sp>
        <p:nvSpPr>
          <p:cNvPr id="11" name="text-115"/>
          <p:cNvSpPr txBox="1"/>
          <p:nvPr/>
        </p:nvSpPr>
        <p:spPr>
          <a:xfrm>
            <a:off x="7772400" y="3611880"/>
            <a:ext cx="3611880" cy="566928"/>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Nav2 BackUp 0.15 m @ 0.08 m/s, 충돌 검사 포함. 3회 연속이면 stop</a:t>
            </a:r>
            <a:endParaRPr lang="en-US" sz="1300" dirty="0"/>
          </a:p>
        </p:txBody>
      </p:sp>
      <p:sp>
        <p:nvSpPr>
          <p:cNvPr id="12" name="card-116"/>
          <p:cNvSpPr/>
          <p:nvPr/>
        </p:nvSpPr>
        <p:spPr>
          <a:xfrm>
            <a:off x="7498080" y="4425696"/>
            <a:ext cx="4142232" cy="1188720"/>
          </a:xfrm>
          <a:prstGeom prst="roundRect">
            <a:avLst>
              <a:gd name="adj" fmla="val 9231"/>
            </a:avLst>
          </a:prstGeom>
          <a:solidFill>
            <a:srgbClr val="F3F5F8"/>
          </a:solidFill>
          <a:ln w="9525">
            <a:solidFill>
              <a:srgbClr val="F3F5F8"/>
            </a:solidFill>
            <a:prstDash val="solid"/>
          </a:ln>
        </p:spPr>
      </p:sp>
      <p:sp>
        <p:nvSpPr>
          <p:cNvPr id="13" name="text-117"/>
          <p:cNvSpPr txBox="1"/>
          <p:nvPr/>
        </p:nvSpPr>
        <p:spPr>
          <a:xfrm>
            <a:off x="7772400" y="4590288"/>
            <a:ext cx="3611880" cy="347472"/>
          </a:xfrm>
          <a:prstGeom prst="rect">
            <a:avLst/>
          </a:prstGeom>
          <a:noFill/>
          <a:ln/>
        </p:spPr>
        <p:txBody>
          <a:bodyPr wrap="square" lIns="0" tIns="0" rIns="0" bIns="0" rtlCol="0" anchor="t"/>
          <a:lstStyle/>
          <a:p>
            <a:pPr indent="0" marL="0">
              <a:buNone/>
            </a:pPr>
            <a:r>
              <a:rPr lang="en-US" sz="1600" b="1" dirty="0">
                <a:solidFill>
                  <a:srgbClr val="14213D"/>
                </a:solidFill>
                <a:latin typeface="Consolas" pitchFamily="34" charset="0"/>
                <a:ea typeface="Consolas" pitchFamily="34" charset="-122"/>
                <a:cs typeface="Consolas" pitchFamily="34" charset="-120"/>
              </a:rPr>
              <a:t>go (복귀)</a:t>
            </a:r>
            <a:endParaRPr lang="en-US" sz="1600" dirty="0"/>
          </a:p>
        </p:txBody>
      </p:sp>
      <p:sp>
        <p:nvSpPr>
          <p:cNvPr id="14" name="text-118"/>
          <p:cNvSpPr txBox="1"/>
          <p:nvPr/>
        </p:nvSpPr>
        <p:spPr>
          <a:xfrm>
            <a:off x="7772400" y="4956048"/>
            <a:ext cx="3611880" cy="566928"/>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기억한 목적지 재전송. 사람이 개입하면 기억 폐기</a:t>
            </a:r>
            <a:endParaRPr lang="en-US" sz="1300" dirty="0"/>
          </a:p>
        </p:txBody>
      </p:sp>
      <p:sp>
        <p:nvSpPr>
          <p:cNvPr id="15" name="text-119"/>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300" dirty="0">
                <a:solidFill>
                  <a:srgbClr val="4A5568"/>
                </a:solidFill>
                <a:latin typeface="Malgun Gothic" pitchFamily="34" charset="0"/>
                <a:ea typeface="Malgun Gothic" pitchFamily="34" charset="-122"/>
                <a:cs typeface="Malgun Gothic" pitchFamily="34" charset="-120"/>
              </a:rPr>
              <a:t>D = 0.25 m · R = 0.10 m · dist = 선분-선분 최소 거리(교차 판정 포함) · 서 있는 로봇은 Nav2가 장애물로 회피</a:t>
            </a:r>
            <a:endParaRPr lang="en-US" sz="13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03 · 재시도와 안전</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막혀서 실패하면 다시, 갈 수 없으면 멈춘다</a:t>
            </a:r>
            <a:endParaRPr lang="en-US" sz="2800" dirty="0"/>
          </a:p>
        </p:txBody>
      </p:sp>
      <p:sp>
        <p:nvSpPr>
          <p:cNvPr id="4" name="text-120"/>
          <p:cNvSpPr txBox="1"/>
          <p:nvPr/>
        </p:nvSpPr>
        <p:spPr>
          <a:xfrm>
            <a:off x="548640" y="1737360"/>
            <a:ext cx="6035040" cy="365760"/>
          </a:xfrm>
          <a:prstGeom prst="rect">
            <a:avLst/>
          </a:prstGeom>
          <a:noFill/>
          <a:ln/>
        </p:spPr>
        <p:txBody>
          <a:bodyPr wrap="square" lIns="0" tIns="0" rIns="0" bIns="0" rtlCol="0" anchor="t"/>
          <a:lstStyle/>
          <a:p>
            <a:pPr indent="0" marL="0">
              <a:buNone/>
            </a:pPr>
            <a:r>
              <a:rPr lang="en-US" sz="1700" b="1" dirty="0">
                <a:solidFill>
                  <a:srgbClr val="14213D"/>
                </a:solidFill>
                <a:latin typeface="Malgun Gothic" pitchFamily="34" charset="0"/>
                <a:ea typeface="Malgun Gothic" pitchFamily="34" charset="-122"/>
                <a:cs typeface="Malgun Gothic" pitchFamily="34" charset="-120"/>
              </a:rPr>
              <a:t>NavigateToPose error_code 기준</a:t>
            </a:r>
            <a:endParaRPr lang="en-US" sz="1700" dirty="0"/>
          </a:p>
        </p:txBody>
      </p:sp>
      <p:graphicFrame>
        <p:nvGraphicFramePr>
          <p:cNvPr id="12" name="table-121"/>
          <p:cNvGraphicFramePr>
            <a:graphicFrameLocks noGrp="1"/>
          </p:cNvGraphicFramePr>
          <p:nvPr>
            <p:extLst>
              <p:ext uri="{D42A27DB-BD31-4B8C-83A1-F6EECF244321}">
                <p14:modId xmlns:p14="http://schemas.microsoft.com/office/powerpoint/2010/main" val="1579011935"/>
              </p:ext>
            </p:extLst>
          </p:nvPr>
        </p:nvGraphicFramePr>
        <p:xfrm>
          <a:off x="548640" y="2212848"/>
          <a:ext cx="6035040" cy="914400"/>
        </p:xfrm>
        <a:graphic>
          <a:graphicData uri="http://schemas.openxmlformats.org/drawingml/2006/table">
            <a:tbl>
              <a:tblPr/>
              <a:tblGrid>
                <a:gridCol w="1188720"/>
                <a:gridCol w="3474720"/>
                <a:gridCol w="1371600"/>
              </a:tblGrid>
              <a:tr h="475488">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코드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의미</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재시도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r>
              <a:tr h="47548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104</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제어 실패 지속 (collision ahead)</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예, 3회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105</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진전 없음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예, 3회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47548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106</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안전한 속도 없음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예, 3회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복구 소진, 코드 없음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예, 3회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47548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206 · 208</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목적지가 장애물 위 · 경로 없음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b="1" dirty="0">
                          <a:solidFill>
                            <a:srgbClr val="A85A12"/>
                          </a:solidFill>
                          <a:latin typeface="Malgun Gothic" pitchFamily="34" charset="0"/>
                          <a:ea typeface="Malgun Gothic" pitchFamily="34" charset="-122"/>
                          <a:cs typeface="Malgun Gothic" pitchFamily="34" charset="-120"/>
                        </a:rPr>
                        <a:t>아니오</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
        <p:nvSpPr>
          <p:cNvPr id="6" name="text-122"/>
          <p:cNvSpPr txBox="1"/>
          <p:nvPr/>
        </p:nvSpPr>
        <p:spPr>
          <a:xfrm>
            <a:off x="548640" y="5257800"/>
            <a:ext cx="6035040" cy="548640"/>
          </a:xfrm>
          <a:prstGeom prst="rect">
            <a:avLst/>
          </a:prstGeom>
          <a:noFill/>
          <a:ln/>
        </p:spPr>
        <p:txBody>
          <a:bodyPr wrap="square" lIns="0" tIns="0" rIns="0" bIns="0" rtlCol="0" anchor="t"/>
          <a:lstStyle/>
          <a:p>
            <a:pPr indent="0" marL="0">
              <a:buNone/>
            </a:pPr>
            <a:r>
              <a:rPr lang="en-US" sz="1300" dirty="0">
                <a:solidFill>
                  <a:srgbClr val="4A5568"/>
                </a:solidFill>
                <a:latin typeface="Malgun Gothic" pitchFamily="34" charset="0"/>
                <a:ea typeface="Malgun Gothic" pitchFamily="34" charset="-122"/>
                <a:cs typeface="Malgun Gothic" pitchFamily="34" charset="-120"/>
              </a:rPr>
              <a:t>양보 중인 robot2는 제외. 교통 정리가 의도적으로 취소한 것이므로</a:t>
            </a:r>
            <a:endParaRPr lang="en-US" sz="1300" dirty="0"/>
          </a:p>
        </p:txBody>
      </p:sp>
      <p:sp>
        <p:nvSpPr>
          <p:cNvPr id="7" name="card-123"/>
          <p:cNvSpPr/>
          <p:nvPr/>
        </p:nvSpPr>
        <p:spPr>
          <a:xfrm>
            <a:off x="6903720" y="1737360"/>
            <a:ext cx="4736592" cy="4343400"/>
          </a:xfrm>
          <a:prstGeom prst="roundRect">
            <a:avLst>
              <a:gd name="adj" fmla="val 2526"/>
            </a:avLst>
          </a:prstGeom>
          <a:solidFill>
            <a:srgbClr val="F3F5F8"/>
          </a:solidFill>
          <a:ln w="9525">
            <a:solidFill>
              <a:srgbClr val="F3F5F8"/>
            </a:solidFill>
            <a:prstDash val="solid"/>
          </a:ln>
        </p:spPr>
      </p:sp>
      <p:sp>
        <p:nvSpPr>
          <p:cNvPr id="8" name="text-124"/>
          <p:cNvSpPr txBox="1"/>
          <p:nvPr/>
        </p:nvSpPr>
        <p:spPr>
          <a:xfrm>
            <a:off x="7223760" y="1938528"/>
            <a:ext cx="4114800" cy="384048"/>
          </a:xfrm>
          <a:prstGeom prst="rect">
            <a:avLst/>
          </a:prstGeom>
          <a:noFill/>
          <a:ln/>
        </p:spPr>
        <p:txBody>
          <a:bodyPr wrap="square" lIns="0" tIns="0" rIns="0" bIns="0" rtlCol="0" anchor="t"/>
          <a:lstStyle/>
          <a:p>
            <a:pPr indent="0" marL="0">
              <a:buNone/>
            </a:pPr>
            <a:r>
              <a:rPr lang="en-US" sz="1700" b="1" dirty="0">
                <a:solidFill>
                  <a:srgbClr val="14213D"/>
                </a:solidFill>
                <a:latin typeface="Malgun Gothic" pitchFamily="34" charset="0"/>
                <a:ea typeface="Malgun Gothic" pitchFamily="34" charset="-122"/>
                <a:cs typeface="Malgun Gothic" pitchFamily="34" charset="-120"/>
              </a:rPr>
              <a:t>운영 안전 장치</a:t>
            </a:r>
            <a:endParaRPr lang="en-US" sz="1700" dirty="0"/>
          </a:p>
        </p:txBody>
      </p:sp>
      <p:sp>
        <p:nvSpPr>
          <p:cNvPr id="9" name="text-125"/>
          <p:cNvSpPr txBox="1"/>
          <p:nvPr/>
        </p:nvSpPr>
        <p:spPr>
          <a:xfrm>
            <a:off x="7223760" y="2468880"/>
            <a:ext cx="4114800" cy="329184"/>
          </a:xfrm>
          <a:prstGeom prst="rect">
            <a:avLst/>
          </a:prstGeom>
          <a:noFill/>
          <a:ln/>
        </p:spPr>
        <p:txBody>
          <a:bodyPr wrap="square" lIns="0" tIns="0" rIns="0" bIns="0" rtlCol="0" anchor="t"/>
          <a:lstStyle/>
          <a:p>
            <a:pPr indent="0" marL="0">
              <a:buNone/>
            </a:pPr>
            <a:r>
              <a:rPr lang="en-US" sz="1400" b="1" dirty="0">
                <a:solidFill>
                  <a:srgbClr val="14213D"/>
                </a:solidFill>
                <a:latin typeface="Malgun Gothic" pitchFamily="34" charset="0"/>
                <a:ea typeface="Malgun Gothic" pitchFamily="34" charset="-122"/>
                <a:cs typeface="Malgun Gothic" pitchFamily="34" charset="-120"/>
              </a:rPr>
              <a:t>종료 시 양 도메인에 0 속도</a:t>
            </a:r>
            <a:endParaRPr lang="en-US" sz="1400" dirty="0"/>
          </a:p>
        </p:txBody>
      </p:sp>
      <p:sp>
        <p:nvSpPr>
          <p:cNvPr id="10" name="text-126"/>
          <p:cNvSpPr txBox="1"/>
          <p:nvPr/>
        </p:nvSpPr>
        <p:spPr>
          <a:xfrm>
            <a:off x="7223760" y="2798064"/>
            <a:ext cx="4114800" cy="502920"/>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bringup에 cmd_vel 타임아웃이 없어 마지막 속도로 계속 주행</a:t>
            </a:r>
            <a:endParaRPr lang="en-US" sz="1200" dirty="0"/>
          </a:p>
        </p:txBody>
      </p:sp>
      <p:sp>
        <p:nvSpPr>
          <p:cNvPr id="11" name="text-127"/>
          <p:cNvSpPr txBox="1"/>
          <p:nvPr/>
        </p:nvSpPr>
        <p:spPr>
          <a:xfrm>
            <a:off x="7223760" y="3364992"/>
            <a:ext cx="4114800" cy="329184"/>
          </a:xfrm>
          <a:prstGeom prst="rect">
            <a:avLst/>
          </a:prstGeom>
          <a:noFill/>
          <a:ln/>
        </p:spPr>
        <p:txBody>
          <a:bodyPr wrap="square" lIns="0" tIns="0" rIns="0" bIns="0" rtlCol="0" anchor="t"/>
          <a:lstStyle/>
          <a:p>
            <a:pPr indent="0" marL="0">
              <a:buNone/>
            </a:pPr>
            <a:r>
              <a:rPr lang="en-US" sz="1400" b="1" dirty="0">
                <a:solidFill>
                  <a:srgbClr val="14213D"/>
                </a:solidFill>
                <a:latin typeface="Malgun Gothic" pitchFamily="34" charset="0"/>
                <a:ea typeface="Malgun Gothic" pitchFamily="34" charset="-122"/>
                <a:cs typeface="Malgun Gothic" pitchFamily="34" charset="-120"/>
              </a:rPr>
              <a:t>Ctrl+Z 차단 (trap '' TSTP)</a:t>
            </a:r>
            <a:endParaRPr lang="en-US" sz="1400" dirty="0"/>
          </a:p>
        </p:txBody>
      </p:sp>
      <p:sp>
        <p:nvSpPr>
          <p:cNvPr id="12" name="text-128"/>
          <p:cNvSpPr txBox="1"/>
          <p:nvPr/>
        </p:nvSpPr>
        <p:spPr>
          <a:xfrm>
            <a:off x="7223760" y="3694176"/>
            <a:ext cx="4114800" cy="502920"/>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정지된 스택이 DDS 참가자로 남는 사고 방지</a:t>
            </a:r>
            <a:endParaRPr lang="en-US" sz="1200" dirty="0"/>
          </a:p>
        </p:txBody>
      </p:sp>
      <p:sp>
        <p:nvSpPr>
          <p:cNvPr id="13" name="text-129"/>
          <p:cNvSpPr txBox="1"/>
          <p:nvPr/>
        </p:nvSpPr>
        <p:spPr>
          <a:xfrm>
            <a:off x="7223760" y="4261104"/>
            <a:ext cx="4114800" cy="329184"/>
          </a:xfrm>
          <a:prstGeom prst="rect">
            <a:avLst/>
          </a:prstGeom>
          <a:noFill/>
          <a:ln/>
        </p:spPr>
        <p:txBody>
          <a:bodyPr wrap="square" lIns="0" tIns="0" rIns="0" bIns="0" rtlCol="0" anchor="t"/>
          <a:lstStyle/>
          <a:p>
            <a:pPr indent="0" marL="0">
              <a:buNone/>
            </a:pPr>
            <a:r>
              <a:rPr lang="en-US" sz="1400" b="1" dirty="0">
                <a:solidFill>
                  <a:srgbClr val="14213D"/>
                </a:solidFill>
                <a:latin typeface="Malgun Gothic" pitchFamily="34" charset="0"/>
                <a:ea typeface="Malgun Gothic" pitchFamily="34" charset="-122"/>
                <a:cs typeface="Malgun Gothic" pitchFamily="34" charset="-120"/>
              </a:rPr>
              <a:t>시뮬-실물 격리 가드</a:t>
            </a:r>
            <a:endParaRPr lang="en-US" sz="1400" dirty="0"/>
          </a:p>
        </p:txBody>
      </p:sp>
      <p:sp>
        <p:nvSpPr>
          <p:cNvPr id="14" name="text-130"/>
          <p:cNvSpPr txBox="1"/>
          <p:nvPr/>
        </p:nvSpPr>
        <p:spPr>
          <a:xfrm>
            <a:off x="7223760" y="4590288"/>
            <a:ext cx="4114800" cy="502920"/>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시뮬이 15/17이나 실물 DDS 설정을 쓰면 launch가 거부</a:t>
            </a:r>
            <a:endParaRPr lang="en-US" sz="1200" dirty="0"/>
          </a:p>
        </p:txBody>
      </p:sp>
      <p:sp>
        <p:nvSpPr>
          <p:cNvPr id="15" name="text-131"/>
          <p:cNvSpPr txBox="1"/>
          <p:nvPr/>
        </p:nvSpPr>
        <p:spPr>
          <a:xfrm>
            <a:off x="7223760" y="5157216"/>
            <a:ext cx="4114800" cy="329184"/>
          </a:xfrm>
          <a:prstGeom prst="rect">
            <a:avLst/>
          </a:prstGeom>
          <a:noFill/>
          <a:ln/>
        </p:spPr>
        <p:txBody>
          <a:bodyPr wrap="square" lIns="0" tIns="0" rIns="0" bIns="0" rtlCol="0" anchor="t"/>
          <a:lstStyle/>
          <a:p>
            <a:pPr indent="0" marL="0">
              <a:buNone/>
            </a:pPr>
            <a:r>
              <a:rPr lang="en-US" sz="1400" b="1" dirty="0">
                <a:solidFill>
                  <a:srgbClr val="14213D"/>
                </a:solidFill>
                <a:latin typeface="Malgun Gothic" pitchFamily="34" charset="0"/>
                <a:ea typeface="Malgun Gothic" pitchFamily="34" charset="-122"/>
                <a:cs typeface="Malgun Gothic" pitchFamily="34" charset="-120"/>
              </a:rPr>
              <a:t>시작 전 점검</a:t>
            </a:r>
            <a:endParaRPr lang="en-US" sz="1400" dirty="0"/>
          </a:p>
        </p:txBody>
      </p:sp>
      <p:sp>
        <p:nvSpPr>
          <p:cNvPr id="16" name="text-132"/>
          <p:cNvSpPr txBox="1"/>
          <p:nvPr/>
        </p:nvSpPr>
        <p:spPr>
          <a:xfrm>
            <a:off x="7223760" y="5486400"/>
            <a:ext cx="4114800" cy="502920"/>
          </a:xfrm>
          <a:prstGeom prst="rect">
            <a:avLst/>
          </a:prstGeom>
          <a:noFill/>
          <a:ln/>
        </p:spPr>
        <p:txBody>
          <a:bodyPr wrap="square" lIns="0" tIns="0" rIns="0" bIns="0" rtlCol="0" anchor="t"/>
          <a:lstStyle/>
          <a:p>
            <a:pPr indent="0" marL="0">
              <a:buNone/>
            </a:pPr>
            <a:r>
              <a:rPr lang="en-US" sz="1200" dirty="0">
                <a:solidFill>
                  <a:srgbClr val="4A5568"/>
                </a:solidFill>
                <a:latin typeface="Malgun Gothic" pitchFamily="34" charset="0"/>
                <a:ea typeface="Malgun Gothic" pitchFamily="34" charset="-122"/>
                <a:cs typeface="Malgun Gothic" pitchFamily="34" charset="-120"/>
              </a:rPr>
              <a:t>AP 연결 · ping · peer · 다른 PC의 AMCL 존재 여부</a:t>
            </a:r>
            <a:endParaRPr lang="en-US" sz="12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04 · Nav2 튜닝</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제조사 원본 대비 바꾼 값은 딱 5개</a:t>
            </a:r>
            <a:endParaRPr lang="en-US" sz="2800" dirty="0"/>
          </a:p>
        </p:txBody>
      </p:sp>
      <p:graphicFrame>
        <p:nvGraphicFramePr>
          <p:cNvPr id="13" name="table-133"/>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846320"/>
                <a:gridCol w="960120"/>
                <a:gridCol w="960120"/>
                <a:gridCol w="4327855"/>
              </a:tblGrid>
              <a:tr h="548640">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파라미터</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원본</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팀</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근거</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controller · failure_tolerance</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0.3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1.5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일시적 collision ahead 오판으로 104 실패</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RPP · max_allowed_time_to_collision_up_to_carrot</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1.0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0.5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LiDAR 노이즈로 흔들린 먼 벽 점에 걸림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RPP · min_lookahead_dist</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0.3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0.15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문을 나오며 코너를 질러 문틀 접촉</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RPP · use_regulated_linear_velocity_scaling</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false</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true</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곡률 큰 구간 감속으로 코너 컷 감소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goal_checker · xy_goal_tolerance</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0.03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0.08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구석 도착 직전 회전 시 후방이 벽에 간섭</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
        <p:nvSpPr>
          <p:cNvPr id="5" name="card-134"/>
          <p:cNvSpPr/>
          <p:nvPr/>
        </p:nvSpPr>
        <p:spPr>
          <a:xfrm>
            <a:off x="548640" y="5257800"/>
            <a:ext cx="5440680" cy="685800"/>
          </a:xfrm>
          <a:prstGeom prst="roundRect">
            <a:avLst>
              <a:gd name="adj" fmla="val 16000"/>
            </a:avLst>
          </a:prstGeom>
          <a:solidFill>
            <a:srgbClr val="F3F5F8"/>
          </a:solidFill>
          <a:ln w="9525">
            <a:solidFill>
              <a:srgbClr val="F3F5F8"/>
            </a:solidFill>
            <a:prstDash val="solid"/>
          </a:ln>
        </p:spPr>
      </p:sp>
      <p:sp>
        <p:nvSpPr>
          <p:cNvPr id="6" name="text-135"/>
          <p:cNvSpPr txBox="1"/>
          <p:nvPr/>
        </p:nvSpPr>
        <p:spPr>
          <a:xfrm>
            <a:off x="777240" y="5257800"/>
            <a:ext cx="4983480" cy="685800"/>
          </a:xfrm>
          <a:prstGeom prst="rect">
            <a:avLst/>
          </a:prstGeom>
          <a:noFill/>
          <a:ln/>
        </p:spPr>
        <p:txBody>
          <a:bodyPr wrap="square" lIns="0" tIns="0" rIns="0" bIns="0" rtlCol="0" anchor="ctr"/>
          <a:lstStyle/>
          <a:p>
            <a:pPr indent="0" marL="0">
              <a:buNone/>
            </a:pPr>
            <a:r>
              <a:rPr lang="en-US" sz="1300" dirty="0">
                <a:solidFill>
                  <a:srgbClr val="4A5568"/>
                </a:solidFill>
                <a:latin typeface="Malgun Gothic" pitchFamily="34" charset="0"/>
                <a:ea typeface="Malgun Gothic" pitchFamily="34" charset="-122"/>
                <a:cs typeface="Malgun Gothic" pitchFamily="34" charset="-120"/>
              </a:rPr>
              <a:t>원본은 그대로, 복사본만 수정 · 바꾼 줄마다 # 팀: 주석</a:t>
            </a:r>
            <a:endParaRPr lang="en-US" sz="1300" dirty="0"/>
          </a:p>
        </p:txBody>
      </p:sp>
      <p:sp>
        <p:nvSpPr>
          <p:cNvPr id="7" name="card-136"/>
          <p:cNvSpPr/>
          <p:nvPr/>
        </p:nvSpPr>
        <p:spPr>
          <a:xfrm>
            <a:off x="6202375" y="5257800"/>
            <a:ext cx="5440680" cy="685800"/>
          </a:xfrm>
          <a:prstGeom prst="roundRect">
            <a:avLst>
              <a:gd name="adj" fmla="val 16000"/>
            </a:avLst>
          </a:prstGeom>
          <a:solidFill>
            <a:srgbClr val="F3F5F8"/>
          </a:solidFill>
          <a:ln w="9525">
            <a:solidFill>
              <a:srgbClr val="F3F5F8"/>
            </a:solidFill>
            <a:prstDash val="solid"/>
          </a:ln>
        </p:spPr>
      </p:sp>
      <p:sp>
        <p:nvSpPr>
          <p:cNvPr id="8" name="text-137"/>
          <p:cNvSpPr txBox="1"/>
          <p:nvPr/>
        </p:nvSpPr>
        <p:spPr>
          <a:xfrm>
            <a:off x="6430975" y="5257800"/>
            <a:ext cx="4983480" cy="685800"/>
          </a:xfrm>
          <a:prstGeom prst="rect">
            <a:avLst/>
          </a:prstGeom>
          <a:noFill/>
          <a:ln/>
        </p:spPr>
        <p:txBody>
          <a:bodyPr wrap="square" lIns="0" tIns="0" rIns="0" bIns="0" rtlCol="0" anchor="ctr"/>
          <a:lstStyle/>
          <a:p>
            <a:pPr indent="0" marL="0">
              <a:buNone/>
            </a:pPr>
            <a:r>
              <a:rPr lang="en-US" sz="1300" dirty="0">
                <a:solidFill>
                  <a:srgbClr val="4A5568"/>
                </a:solidFill>
                <a:latin typeface="Malgun Gothic" pitchFamily="34" charset="0"/>
                <a:ea typeface="Malgun Gothic" pitchFamily="34" charset="-122"/>
                <a:cs typeface="Malgun Gothic" pitchFamily="34" charset="-120"/>
              </a:rPr>
              <a:t>고정: RPP 20 Hz · 0.2 m/s · NavFn(Dijkstra) · costmap 0.01 m · inflation 0.4 m</a:t>
            </a:r>
            <a:endParaRPr lang="en-US" sz="13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04 · pinky_navigation 파라미터</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작은 로봇·좁은 방에 맞춘 기본 조정</a:t>
            </a:r>
            <a:endParaRPr lang="en-US" sz="2800" dirty="0"/>
          </a:p>
        </p:txBody>
      </p:sp>
      <p:graphicFrame>
        <p:nvGraphicFramePr>
          <p:cNvPr id="14" name="table-138"/>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023360"/>
                <a:gridCol w="2926080"/>
                <a:gridCol w="4144975"/>
              </a:tblGrid>
              <a:tr h="512064">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파라미터</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이전 값 → 적용</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의도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r>
              <a:tr h="512064">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AMCL · update_min_d / update_min_a</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0.15 m / 0.1 → 0.01 m / 0.01</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1 cm만 움직여도 위치 갱신</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RPP · lookahead_dist</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0.6 m → 0.05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실제는 속도 비례 0.15 ~ 0.9 m로 제한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12064">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costmap · resolution (local / global)</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0.05 m → 0.01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12×10 cm 로봇과 35 cm 문을 표현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local · inflation_radius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0.15 m → 0.4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벽 주변 비용 범위 확대</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12064">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global · inflation_radius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0.15 m → 1.0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경로가 방 가운데로 지나가게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cost_scaling_factor (local / global)</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3.0 → 10.0</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비용이 벽 가까이에서만 급증 → 좁은 통로 통과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bl>
          </a:graphicData>
        </a:graphic>
      </p:graphicFrame>
      <p:sp>
        <p:nvSpPr>
          <p:cNvPr id="5" name="card-139"/>
          <p:cNvSpPr/>
          <p:nvPr/>
        </p:nvSpPr>
        <p:spPr>
          <a:xfrm>
            <a:off x="548640" y="5440680"/>
            <a:ext cx="11094415" cy="594360"/>
          </a:xfrm>
          <a:prstGeom prst="roundRect">
            <a:avLst>
              <a:gd name="adj" fmla="val 18462"/>
            </a:avLst>
          </a:prstGeom>
          <a:solidFill>
            <a:srgbClr val="FFF4E6"/>
          </a:solidFill>
          <a:ln w="15875">
            <a:solidFill>
              <a:srgbClr val="D9822B"/>
            </a:solidFill>
            <a:prstDash val="solid"/>
          </a:ln>
        </p:spPr>
      </p:sp>
      <p:sp>
        <p:nvSpPr>
          <p:cNvPr id="6" name="text-140"/>
          <p:cNvSpPr txBox="1"/>
          <p:nvPr/>
        </p:nvSpPr>
        <p:spPr>
          <a:xfrm>
            <a:off x="777240" y="5440680"/>
            <a:ext cx="10637215" cy="594360"/>
          </a:xfrm>
          <a:prstGeom prst="rect">
            <a:avLst/>
          </a:prstGeom>
          <a:noFill/>
          <a:ln/>
        </p:spPr>
        <p:txBody>
          <a:bodyPr wrap="square" lIns="0" tIns="0" rIns="0" bIns="0" rtlCol="0" anchor="ctr"/>
          <a:lstStyle/>
          <a:p>
            <a:pPr indent="0" marL="0">
              <a:buNone/>
            </a:pPr>
            <a:r>
              <a:rPr lang="en-US" sz="1300" b="1" dirty="0">
                <a:solidFill>
                  <a:srgbClr val="A85A12"/>
                </a:solidFill>
                <a:latin typeface="Malgun Gothic" pitchFamily="34" charset="0"/>
                <a:ea typeface="Malgun Gothic" pitchFamily="34" charset="-122"/>
                <a:cs typeface="Malgun Gothic" pitchFamily="34" charset="-120"/>
              </a:rPr>
              <a:t>대가: 0.01 m 격자에서는 LiDAR 노이즈(±2 cm)가 셀 단위 흔들림으로 보인다 → 다음 장의 문 앞 false collision으로 이어졌다</a:t>
            </a:r>
            <a:endParaRPr lang="en-US" sz="13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04 · 튜닝 근거</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막힌 것도 없는데 문 앞에서 실패한 이유</a:t>
            </a:r>
            <a:endParaRPr lang="en-US" sz="2800" dirty="0"/>
          </a:p>
        </p:txBody>
      </p:sp>
      <p:sp>
        <p:nvSpPr>
          <p:cNvPr id="4" name="text-141"/>
          <p:cNvSpPr txBox="1"/>
          <p:nvPr/>
        </p:nvSpPr>
        <p:spPr>
          <a:xfrm>
            <a:off x="548640" y="1691640"/>
            <a:ext cx="2194560" cy="1005840"/>
          </a:xfrm>
          <a:prstGeom prst="rect">
            <a:avLst/>
          </a:prstGeom>
          <a:noFill/>
          <a:ln/>
        </p:spPr>
        <p:txBody>
          <a:bodyPr wrap="square" lIns="0" tIns="0" rIns="0" bIns="0" rtlCol="0" anchor="t"/>
          <a:lstStyle/>
          <a:p>
            <a:pPr indent="0" marL="0">
              <a:buNone/>
            </a:pPr>
            <a:r>
              <a:rPr lang="en-US" sz="6000" b="1" dirty="0">
                <a:solidFill>
                  <a:srgbClr val="D9822B"/>
                </a:solidFill>
                <a:latin typeface="Consolas" pitchFamily="34" charset="0"/>
                <a:ea typeface="Consolas" pitchFamily="34" charset="-122"/>
                <a:cs typeface="Consolas" pitchFamily="34" charset="-120"/>
              </a:rPr>
              <a:t>750</a:t>
            </a:r>
            <a:endParaRPr lang="en-US" sz="6000" dirty="0"/>
          </a:p>
        </p:txBody>
      </p:sp>
      <p:sp>
        <p:nvSpPr>
          <p:cNvPr id="5" name="text-142"/>
          <p:cNvSpPr txBox="1"/>
          <p:nvPr/>
        </p:nvSpPr>
        <p:spPr>
          <a:xfrm>
            <a:off x="2788920" y="1828800"/>
            <a:ext cx="3749040" cy="777240"/>
          </a:xfrm>
          <a:prstGeom prst="rect">
            <a:avLst/>
          </a:prstGeom>
          <a:noFill/>
          <a:ln/>
        </p:spPr>
        <p:txBody>
          <a:bodyPr wrap="square" lIns="0" tIns="0" rIns="0" bIns="0" rtlCol="0" anchor="ctr"/>
          <a:lstStyle/>
          <a:p>
            <a:pPr indent="0" marL="0">
              <a:buNone/>
            </a:pPr>
            <a:r>
              <a:rPr lang="en-US" sz="1600" dirty="0">
                <a:solidFill>
                  <a:srgbClr val="14213D"/>
                </a:solidFill>
                <a:latin typeface="Malgun Gothic" pitchFamily="34" charset="0"/>
                <a:ea typeface="Malgun Gothic" pitchFamily="34" charset="-122"/>
                <a:cs typeface="Malgun Gothic" pitchFamily="34" charset="-120"/>
              </a:rPr>
              <a:t>번의 "detected collision ahead!"</a:t>
            </a:r>
            <a:endParaRPr lang="en-US" sz="1600" dirty="0"/>
          </a:p>
          <a:p>
            <a:pPr indent="0" marL="0">
              <a:buNone/>
            </a:pPr>
            <a:r>
              <a:rPr lang="en-US" sz="1600" dirty="0">
                <a:solidFill>
                  <a:srgbClr val="14213D"/>
                </a:solidFill>
                <a:latin typeface="Malgun Gothic" pitchFamily="34" charset="0"/>
                <a:ea typeface="Malgun Gothic" pitchFamily="34" charset="-122"/>
                <a:cs typeface="Malgun Gothic" pitchFamily="34" charset="-120"/>
              </a:rPr>
              <a:t>복구 10회 → error 104</a:t>
            </a:r>
            <a:endParaRPr lang="en-US" sz="1600" dirty="0"/>
          </a:p>
        </p:txBody>
      </p:sp>
      <p:sp>
        <p:nvSpPr>
          <p:cNvPr id="6" name="text-143"/>
          <p:cNvSpPr txBox="1"/>
          <p:nvPr/>
        </p:nvSpPr>
        <p:spPr>
          <a:xfrm>
            <a:off x="548640" y="2926080"/>
            <a:ext cx="6035040" cy="320040"/>
          </a:xfrm>
          <a:prstGeom prst="rect">
            <a:avLst/>
          </a:prstGeom>
          <a:noFill/>
          <a:ln/>
        </p:spPr>
        <p:txBody>
          <a:bodyPr wrap="square" lIns="0" tIns="0" rIns="0" bIns="0" rtlCol="0" anchor="t"/>
          <a:lstStyle/>
          <a:p>
            <a:pPr indent="0" marL="0">
              <a:buNone/>
            </a:pPr>
            <a:r>
              <a:rPr lang="en-US" sz="1500" b="1" dirty="0">
                <a:solidFill>
                  <a:srgbClr val="A85A12"/>
                </a:solidFill>
                <a:latin typeface="Malgun Gothic" pitchFamily="34" charset="0"/>
                <a:ea typeface="Malgun Gothic" pitchFamily="34" charset="-122"/>
                <a:cs typeface="Malgun Gothic" pitchFamily="34" charset="-120"/>
              </a:rPr>
              <a:t>원인</a:t>
            </a:r>
            <a:endParaRPr lang="en-US" sz="1500" dirty="0"/>
          </a:p>
        </p:txBody>
      </p:sp>
      <p:sp>
        <p:nvSpPr>
          <p:cNvPr id="7" name="text-144"/>
          <p:cNvSpPr txBox="1"/>
          <p:nvPr/>
        </p:nvSpPr>
        <p:spPr>
          <a:xfrm>
            <a:off x="548640" y="3255264"/>
            <a:ext cx="6035040" cy="64008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시뮬 LiDAR 노이즈 σ 0.02 m, costmap 해상도 0.01 m → 문틀 점이 셀 단위로 흔들려 경로와 순간 겹침. 0.3 s 지속만으로 실패</a:t>
            </a:r>
            <a:endParaRPr lang="en-US" sz="1300" dirty="0"/>
          </a:p>
        </p:txBody>
      </p:sp>
      <p:sp>
        <p:nvSpPr>
          <p:cNvPr id="8" name="text-145"/>
          <p:cNvSpPr txBox="1"/>
          <p:nvPr/>
        </p:nvSpPr>
        <p:spPr>
          <a:xfrm>
            <a:off x="548640" y="3950208"/>
            <a:ext cx="6035040" cy="320040"/>
          </a:xfrm>
          <a:prstGeom prst="rect">
            <a:avLst/>
          </a:prstGeom>
          <a:noFill/>
          <a:ln/>
        </p:spPr>
        <p:txBody>
          <a:bodyPr wrap="square" lIns="0" tIns="0" rIns="0" bIns="0" rtlCol="0" anchor="t"/>
          <a:lstStyle/>
          <a:p>
            <a:pPr indent="0" marL="0">
              <a:buNone/>
            </a:pPr>
            <a:r>
              <a:rPr lang="en-US" sz="1500" b="1" dirty="0">
                <a:solidFill>
                  <a:srgbClr val="2E7D4F"/>
                </a:solidFill>
                <a:latin typeface="Malgun Gothic" pitchFamily="34" charset="0"/>
                <a:ea typeface="Malgun Gothic" pitchFamily="34" charset="-122"/>
                <a:cs typeface="Malgun Gothic" pitchFamily="34" charset="-120"/>
              </a:rPr>
              <a:t>조치</a:t>
            </a:r>
            <a:endParaRPr lang="en-US" sz="1500" dirty="0"/>
          </a:p>
        </p:txBody>
      </p:sp>
      <p:sp>
        <p:nvSpPr>
          <p:cNvPr id="9" name="text-146"/>
          <p:cNvSpPr txBox="1"/>
          <p:nvPr/>
        </p:nvSpPr>
        <p:spPr>
          <a:xfrm>
            <a:off x="548640" y="4279392"/>
            <a:ext cx="6035040" cy="64008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failure_tolerance 1.5 s · 충돌 검사 0.5 s · 104/105/106/0 재시도 3회</a:t>
            </a:r>
            <a:endParaRPr lang="en-US" sz="1300" dirty="0"/>
          </a:p>
        </p:txBody>
      </p:sp>
      <p:sp>
        <p:nvSpPr>
          <p:cNvPr id="10" name="text-147"/>
          <p:cNvSpPr txBox="1"/>
          <p:nvPr/>
        </p:nvSpPr>
        <p:spPr>
          <a:xfrm>
            <a:off x="548640" y="4974336"/>
            <a:ext cx="6035040" cy="320040"/>
          </a:xfrm>
          <a:prstGeom prst="rect">
            <a:avLst/>
          </a:prstGeom>
          <a:noFill/>
          <a:ln/>
        </p:spPr>
        <p:txBody>
          <a:bodyPr wrap="square" lIns="0" tIns="0" rIns="0" bIns="0" rtlCol="0" anchor="t"/>
          <a:lstStyle/>
          <a:p>
            <a:pPr indent="0" marL="0">
              <a:buNone/>
            </a:pPr>
            <a:r>
              <a:rPr lang="en-US" sz="1500" b="1" dirty="0">
                <a:solidFill>
                  <a:srgbClr val="2F6FDB"/>
                </a:solidFill>
                <a:latin typeface="Malgun Gothic" pitchFamily="34" charset="0"/>
                <a:ea typeface="Malgun Gothic" pitchFamily="34" charset="-122"/>
                <a:cs typeface="Malgun Gothic" pitchFamily="34" charset="-120"/>
              </a:rPr>
              <a:t>결과</a:t>
            </a:r>
            <a:endParaRPr lang="en-US" sz="1500" dirty="0"/>
          </a:p>
        </p:txBody>
      </p:sp>
      <p:sp>
        <p:nvSpPr>
          <p:cNvPr id="11" name="text-148"/>
          <p:cNvSpPr txBox="1"/>
          <p:nvPr/>
        </p:nvSpPr>
        <p:spPr>
          <a:xfrm>
            <a:off x="548640" y="5303520"/>
            <a:ext cx="6035040" cy="64008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"막혀서 실패 → 다시 보냄 (1/3)" 후 도착 확인. Nav2 값 단독 효과는 추가 검증 필요</a:t>
            </a:r>
            <a:endParaRPr lang="en-US" sz="1300" dirty="0"/>
          </a:p>
        </p:txBody>
      </p:sp>
      <p:sp>
        <p:nvSpPr>
          <p:cNvPr id="12" name="card-149"/>
          <p:cNvSpPr/>
          <p:nvPr/>
        </p:nvSpPr>
        <p:spPr>
          <a:xfrm>
            <a:off x="6903720" y="1691640"/>
            <a:ext cx="4736592" cy="4434840"/>
          </a:xfrm>
          <a:prstGeom prst="roundRect">
            <a:avLst>
              <a:gd name="adj" fmla="val 2474"/>
            </a:avLst>
          </a:prstGeom>
          <a:solidFill>
            <a:srgbClr val="1B2333"/>
          </a:solidFill>
          <a:ln w="9525">
            <a:solidFill>
              <a:srgbClr val="1B2333"/>
            </a:solidFill>
            <a:prstDash val="solid"/>
          </a:ln>
        </p:spPr>
      </p:sp>
      <p:pic>
        <p:nvPicPr>
          <p:cNvPr id="13" name="door-shot" descr="관제 화면 캡처: 문 안의 robot2가 장애물 없이 복구 10회를 기록한 상태">    </p:cNvPr>
          <p:cNvPicPr>
            <a:picLocks noChangeAspect="1"/>
          </p:cNvPicPr>
          <p:nvPr/>
        </p:nvPicPr>
        <p:blipFill>
          <a:blip r:embed="rId1"/>
          <a:stretch>
            <a:fillRect/>
          </a:stretch>
        </p:blipFill>
        <p:spPr>
          <a:xfrm>
            <a:off x="7086600" y="1828800"/>
            <a:ext cx="4224528" cy="4169664"/>
          </a:xfrm>
          <a:prstGeom prst="rect">
            <a:avLst/>
          </a:prstGeom>
        </p:spPr>
      </p:pic>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04 · 교통 파라미터</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처음 값은 너무 일찍 멈췄다 → 줄였다</a:t>
            </a:r>
            <a:endParaRPr lang="en-US" sz="2800" dirty="0"/>
          </a:p>
        </p:txBody>
      </p:sp>
      <p:graphicFrame>
        <p:nvGraphicFramePr>
          <p:cNvPr id="16" name="table-150"/>
          <p:cNvGraphicFramePr>
            <a:graphicFrameLocks noGrp="1"/>
          </p:cNvGraphicFramePr>
          <p:nvPr>
            <p:extLst>
              <p:ext uri="{D42A27DB-BD31-4B8C-83A1-F6EECF244321}">
                <p14:modId xmlns:p14="http://schemas.microsoft.com/office/powerpoint/2010/main" val="1579011935"/>
              </p:ext>
            </p:extLst>
          </p:nvPr>
        </p:nvGraphicFramePr>
        <p:xfrm>
          <a:off x="548640" y="1737360"/>
          <a:ext cx="7315200" cy="914400"/>
        </p:xfrm>
        <a:graphic>
          <a:graphicData uri="http://schemas.openxmlformats.org/drawingml/2006/table">
            <a:tbl>
              <a:tblPr/>
              <a:tblGrid>
                <a:gridCol w="2606040"/>
                <a:gridCol w="914400"/>
                <a:gridCol w="1508760"/>
                <a:gridCol w="2286000"/>
              </a:tblGrid>
              <a:tr h="548640">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파라미터</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초기</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최종</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이유</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yield_distance</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0.30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0.25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로봇 폭 0.12 m + 여유</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yield_lookahead (robot2)</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1.0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0.5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먼 겹침은 나중에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yield_leader_ahead (robot1)</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전체</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0.8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방 반대편이면 무시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yield_release</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0.10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stop ↔ go 떨림 방지</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goal_clearance</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0.20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0.10 m</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문 주변 0.9 m 금지 해소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BACK_STEP · SPEED · LIMIT</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dirty="0">
                          <a:solidFill>
                            <a:srgbClr val="14213D"/>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2F6FDB"/>
                          </a:solidFill>
                          <a:latin typeface="Malgun Gothic" pitchFamily="34" charset="0"/>
                          <a:ea typeface="Malgun Gothic" pitchFamily="34" charset="-122"/>
                          <a:cs typeface="Malgun Gothic" pitchFamily="34" charset="-120"/>
                        </a:rPr>
                        <a:t>0.15 · 0.08 · 3</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벽까지 밀리지 않게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bl>
          </a:graphicData>
        </a:graphic>
      </p:graphicFrame>
      <p:sp>
        <p:nvSpPr>
          <p:cNvPr id="5" name="card-151"/>
          <p:cNvSpPr/>
          <p:nvPr/>
        </p:nvSpPr>
        <p:spPr>
          <a:xfrm>
            <a:off x="8183880" y="1737360"/>
            <a:ext cx="3456432" cy="3840480"/>
          </a:xfrm>
          <a:prstGeom prst="roundRect">
            <a:avLst>
              <a:gd name="adj" fmla="val 3175"/>
            </a:avLst>
          </a:prstGeom>
          <a:solidFill>
            <a:srgbClr val="14213D"/>
          </a:solidFill>
          <a:ln w="9525">
            <a:solidFill>
              <a:srgbClr val="14213D"/>
            </a:solidFill>
            <a:prstDash val="solid"/>
          </a:ln>
        </p:spPr>
      </p:sp>
      <p:sp>
        <p:nvSpPr>
          <p:cNvPr id="6" name="text-152"/>
          <p:cNvSpPr txBox="1"/>
          <p:nvPr/>
        </p:nvSpPr>
        <p:spPr>
          <a:xfrm>
            <a:off x="8503920" y="2057400"/>
            <a:ext cx="2926080" cy="914400"/>
          </a:xfrm>
          <a:prstGeom prst="rect">
            <a:avLst/>
          </a:prstGeom>
          <a:noFill/>
          <a:ln/>
        </p:spPr>
        <p:txBody>
          <a:bodyPr wrap="square" lIns="0" tIns="0" rIns="0" bIns="0" rtlCol="0" anchor="t"/>
          <a:lstStyle/>
          <a:p>
            <a:pPr indent="0" marL="0">
              <a:buNone/>
            </a:pPr>
            <a:r>
              <a:rPr lang="en-US" sz="4800" b="1" dirty="0">
                <a:solidFill>
                  <a:srgbClr val="F2A65A"/>
                </a:solidFill>
                <a:latin typeface="Consolas" pitchFamily="34" charset="0"/>
                <a:ea typeface="Consolas" pitchFamily="34" charset="-122"/>
                <a:cs typeface="Consolas" pitchFamily="34" charset="-120"/>
              </a:rPr>
              <a:t>≈1.3 m</a:t>
            </a:r>
            <a:endParaRPr lang="en-US" sz="4800" dirty="0"/>
          </a:p>
        </p:txBody>
      </p:sp>
      <p:sp>
        <p:nvSpPr>
          <p:cNvPr id="7" name="text-153"/>
          <p:cNvSpPr txBox="1"/>
          <p:nvPr/>
        </p:nvSpPr>
        <p:spPr>
          <a:xfrm>
            <a:off x="8503920" y="3063240"/>
            <a:ext cx="2926080" cy="411480"/>
          </a:xfrm>
          <a:prstGeom prst="rect">
            <a:avLst/>
          </a:prstGeom>
          <a:noFill/>
          <a:ln/>
        </p:spPr>
        <p:txBody>
          <a:bodyPr wrap="square" lIns="0" tIns="0" rIns="0" bIns="0" rtlCol="0" anchor="t"/>
          <a:lstStyle/>
          <a:p>
            <a:pPr indent="0" marL="0">
              <a:buNone/>
            </a:pPr>
            <a:r>
              <a:rPr lang="en-US" sz="1600" b="1" dirty="0">
                <a:solidFill>
                  <a:srgbClr val="F6F7F4"/>
                </a:solidFill>
                <a:latin typeface="Malgun Gothic" pitchFamily="34" charset="0"/>
                <a:ea typeface="Malgun Gothic" pitchFamily="34" charset="-122"/>
                <a:cs typeface="Malgun Gothic" pitchFamily="34" charset="-120"/>
              </a:rPr>
              <a:t>이 안으로 다가올 때만 양보</a:t>
            </a:r>
            <a:endParaRPr lang="en-US" sz="1600" dirty="0"/>
          </a:p>
        </p:txBody>
      </p:sp>
      <p:sp>
        <p:nvSpPr>
          <p:cNvPr id="8" name="text-154"/>
          <p:cNvSpPr txBox="1"/>
          <p:nvPr/>
        </p:nvSpPr>
        <p:spPr>
          <a:xfrm>
            <a:off x="8503920" y="3566160"/>
            <a:ext cx="2926080" cy="1828800"/>
          </a:xfrm>
          <a:prstGeom prst="rect">
            <a:avLst/>
          </a:prstGeom>
          <a:noFill/>
          <a:ln/>
        </p:spPr>
        <p:txBody>
          <a:bodyPr wrap="square" lIns="0" tIns="0" rIns="0" bIns="0" rtlCol="0" anchor="t"/>
          <a:lstStyle/>
          <a:p>
            <a:pPr indent="0" marL="0">
              <a:lnSpc>
                <a:spcPct val="130000"/>
              </a:lnSpc>
              <a:buNone/>
            </a:pPr>
            <a:r>
              <a:rPr lang="en-US" sz="1300" dirty="0">
                <a:solidFill>
                  <a:srgbClr val="C9D3E3"/>
                </a:solidFill>
                <a:latin typeface="Malgun Gothic" pitchFamily="34" charset="0"/>
                <a:ea typeface="Malgun Gothic" pitchFamily="34" charset="-122"/>
                <a:cs typeface="Malgun Gothic" pitchFamily="34" charset="-120"/>
              </a:rPr>
              <a:t>robot1 앞 0.8 m + robot2 앞 0.5 m. 처음엔 robot1의 남은 경로 전체를 봐서, 멀리 있어도 robot2가 섰다.</a:t>
            </a:r>
            <a:endParaRPr lang="en-US" sz="13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05 · 통합 디버깅</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알고리즘보다 오래 걸린 건 미들웨어였다</a:t>
            </a:r>
            <a:endParaRPr lang="en-US" sz="2800" dirty="0"/>
          </a:p>
        </p:txBody>
      </p:sp>
      <p:sp>
        <p:nvSpPr>
          <p:cNvPr id="4" name="card-155"/>
          <p:cNvSpPr/>
          <p:nvPr/>
        </p:nvSpPr>
        <p:spPr>
          <a:xfrm>
            <a:off x="548640" y="1737360"/>
            <a:ext cx="5449824" cy="2011680"/>
          </a:xfrm>
          <a:prstGeom prst="roundRect">
            <a:avLst>
              <a:gd name="adj" fmla="val 5455"/>
            </a:avLst>
          </a:prstGeom>
          <a:solidFill>
            <a:srgbClr val="F3F5F8"/>
          </a:solidFill>
          <a:ln w="9525">
            <a:solidFill>
              <a:srgbClr val="F3F5F8"/>
            </a:solidFill>
            <a:prstDash val="solid"/>
          </a:ln>
        </p:spPr>
      </p:sp>
      <p:sp>
        <p:nvSpPr>
          <p:cNvPr id="5" name="text-156"/>
          <p:cNvSpPr txBox="1"/>
          <p:nvPr/>
        </p:nvSpPr>
        <p:spPr>
          <a:xfrm>
            <a:off x="868680" y="1965960"/>
            <a:ext cx="4809744" cy="384048"/>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시뮬 /clock 0개</a:t>
            </a:r>
            <a:endParaRPr lang="en-US" sz="1800" dirty="0"/>
          </a:p>
        </p:txBody>
      </p:sp>
      <p:sp>
        <p:nvSpPr>
          <p:cNvPr id="6" name="text-157"/>
          <p:cNvSpPr txBox="1"/>
          <p:nvPr/>
        </p:nvSpPr>
        <p:spPr>
          <a:xfrm>
            <a:off x="868680" y="2423160"/>
            <a:ext cx="4809744" cy="64008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6 s 동안 /odom 301개, /clock 0개. 실물용 Cyclone DDS가 시뮬에도 적용돼 있었다</a:t>
            </a:r>
            <a:endParaRPr lang="en-US" sz="1300" dirty="0"/>
          </a:p>
        </p:txBody>
      </p:sp>
      <p:sp>
        <p:nvSpPr>
          <p:cNvPr id="7" name="text-158"/>
          <p:cNvSpPr txBox="1"/>
          <p:nvPr/>
        </p:nvSpPr>
        <p:spPr>
          <a:xfrm>
            <a:off x="868680" y="3108960"/>
            <a:ext cx="4809744" cy="457200"/>
          </a:xfrm>
          <a:prstGeom prst="rect">
            <a:avLst/>
          </a:prstGeom>
          <a:noFill/>
          <a:ln/>
        </p:spPr>
        <p:txBody>
          <a:bodyPr wrap="square" lIns="0" tIns="0" rIns="0" bIns="0" rtlCol="0" anchor="t"/>
          <a:lstStyle/>
          <a:p>
            <a:pPr indent="0" marL="0">
              <a:buNone/>
            </a:pPr>
            <a:r>
              <a:rPr lang="en-US" sz="1300" b="1" dirty="0">
                <a:solidFill>
                  <a:srgbClr val="2E7D4F"/>
                </a:solidFill>
                <a:latin typeface="Malgun Gothic" pitchFamily="34" charset="0"/>
                <a:ea typeface="Malgun Gothic" pitchFamily="34" charset="-122"/>
                <a:cs typeface="Malgun Gothic" pitchFamily="34" charset="-120"/>
              </a:rPr>
              <a:t>→ 시뮬 launch가 Fast DDS + LOCALHOST 강제</a:t>
            </a:r>
            <a:endParaRPr lang="en-US" sz="1300" dirty="0"/>
          </a:p>
        </p:txBody>
      </p:sp>
      <p:sp>
        <p:nvSpPr>
          <p:cNvPr id="8" name="card-159"/>
          <p:cNvSpPr/>
          <p:nvPr/>
        </p:nvSpPr>
        <p:spPr>
          <a:xfrm>
            <a:off x="6190488" y="1737360"/>
            <a:ext cx="5449824" cy="2011680"/>
          </a:xfrm>
          <a:prstGeom prst="roundRect">
            <a:avLst>
              <a:gd name="adj" fmla="val 5455"/>
            </a:avLst>
          </a:prstGeom>
          <a:solidFill>
            <a:srgbClr val="F3F5F8"/>
          </a:solidFill>
          <a:ln w="9525">
            <a:solidFill>
              <a:srgbClr val="F3F5F8"/>
            </a:solidFill>
            <a:prstDash val="solid"/>
          </a:ln>
        </p:spPr>
      </p:sp>
      <p:sp>
        <p:nvSpPr>
          <p:cNvPr id="9" name="text-160"/>
          <p:cNvSpPr txBox="1"/>
          <p:nvPr/>
        </p:nvSpPr>
        <p:spPr>
          <a:xfrm>
            <a:off x="6510528" y="1965960"/>
            <a:ext cx="4809744" cy="384048"/>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실물 노드 탐색 실패</a:t>
            </a:r>
            <a:endParaRPr lang="en-US" sz="1800" dirty="0"/>
          </a:p>
        </p:txBody>
      </p:sp>
      <p:sp>
        <p:nvSpPr>
          <p:cNvPr id="10" name="text-161"/>
          <p:cNvSpPr txBox="1"/>
          <p:nvPr/>
        </p:nvSpPr>
        <p:spPr>
          <a:xfrm>
            <a:off x="6510528" y="2423160"/>
            <a:ext cx="4809744" cy="64008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현장 AP가 DDS 멀티캐스트(SPDP)를 차단</a:t>
            </a:r>
            <a:endParaRPr lang="en-US" sz="1300" dirty="0"/>
          </a:p>
        </p:txBody>
      </p:sp>
      <p:sp>
        <p:nvSpPr>
          <p:cNvPr id="11" name="text-162"/>
          <p:cNvSpPr txBox="1"/>
          <p:nvPr/>
        </p:nvSpPr>
        <p:spPr>
          <a:xfrm>
            <a:off x="6510528" y="3108960"/>
            <a:ext cx="4809744" cy="457200"/>
          </a:xfrm>
          <a:prstGeom prst="rect">
            <a:avLst/>
          </a:prstGeom>
          <a:noFill/>
          <a:ln/>
        </p:spPr>
        <p:txBody>
          <a:bodyPr wrap="square" lIns="0" tIns="0" rIns="0" bIns="0" rtlCol="0" anchor="t"/>
          <a:lstStyle/>
          <a:p>
            <a:pPr indent="0" marL="0">
              <a:buNone/>
            </a:pPr>
            <a:r>
              <a:rPr lang="en-US" sz="1300" b="1" dirty="0">
                <a:solidFill>
                  <a:srgbClr val="2E7D4F"/>
                </a:solidFill>
                <a:latin typeface="Malgun Gothic" pitchFamily="34" charset="0"/>
                <a:ea typeface="Malgun Gothic" pitchFamily="34" charset="-122"/>
                <a:cs typeface="Malgun Gothic" pitchFamily="34" charset="-120"/>
              </a:rPr>
              <a:t>→ ROS_STATIC_PEERS 유니캐스트, 스크립트가 자동 구성</a:t>
            </a:r>
            <a:endParaRPr lang="en-US" sz="1300" dirty="0"/>
          </a:p>
        </p:txBody>
      </p:sp>
      <p:sp>
        <p:nvSpPr>
          <p:cNvPr id="12" name="card-163"/>
          <p:cNvSpPr/>
          <p:nvPr/>
        </p:nvSpPr>
        <p:spPr>
          <a:xfrm>
            <a:off x="548640" y="3931920"/>
            <a:ext cx="5449824" cy="2011680"/>
          </a:xfrm>
          <a:prstGeom prst="roundRect">
            <a:avLst>
              <a:gd name="adj" fmla="val 5455"/>
            </a:avLst>
          </a:prstGeom>
          <a:solidFill>
            <a:srgbClr val="F3F5F8"/>
          </a:solidFill>
          <a:ln w="9525">
            <a:solidFill>
              <a:srgbClr val="F3F5F8"/>
            </a:solidFill>
            <a:prstDash val="solid"/>
          </a:ln>
        </p:spPr>
      </p:sp>
      <p:sp>
        <p:nvSpPr>
          <p:cNvPr id="13" name="text-164"/>
          <p:cNvSpPr txBox="1"/>
          <p:nvPr/>
        </p:nvSpPr>
        <p:spPr>
          <a:xfrm>
            <a:off x="868680" y="4160520"/>
            <a:ext cx="4809744" cy="384048"/>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TF 102 "data too old"</a:t>
            </a:r>
            <a:endParaRPr lang="en-US" sz="1800" dirty="0"/>
          </a:p>
        </p:txBody>
      </p:sp>
      <p:sp>
        <p:nvSpPr>
          <p:cNvPr id="14" name="text-165"/>
          <p:cNvSpPr txBox="1"/>
          <p:nvPr/>
        </p:nvSpPr>
        <p:spPr>
          <a:xfrm>
            <a:off x="868680" y="4617720"/>
            <a:ext cx="4809744" cy="64008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인터넷 없는 AP라 로봇 NTP 불가, 수 초 차이로 TF 폐기</a:t>
            </a:r>
            <a:endParaRPr lang="en-US" sz="1300" dirty="0"/>
          </a:p>
        </p:txBody>
      </p:sp>
      <p:sp>
        <p:nvSpPr>
          <p:cNvPr id="15" name="text-166"/>
          <p:cNvSpPr txBox="1"/>
          <p:nvPr/>
        </p:nvSpPr>
        <p:spPr>
          <a:xfrm>
            <a:off x="868680" y="5303520"/>
            <a:ext cx="4809744" cy="457200"/>
          </a:xfrm>
          <a:prstGeom prst="rect">
            <a:avLst/>
          </a:prstGeom>
          <a:noFill/>
          <a:ln/>
        </p:spPr>
        <p:txBody>
          <a:bodyPr wrap="square" lIns="0" tIns="0" rIns="0" bIns="0" rtlCol="0" anchor="t"/>
          <a:lstStyle/>
          <a:p>
            <a:pPr indent="0" marL="0">
              <a:buNone/>
            </a:pPr>
            <a:r>
              <a:rPr lang="en-US" sz="1300" b="1" dirty="0">
                <a:solidFill>
                  <a:srgbClr val="2E7D4F"/>
                </a:solidFill>
                <a:latin typeface="Malgun Gothic" pitchFamily="34" charset="0"/>
                <a:ea typeface="Malgun Gothic" pitchFamily="34" charset="-122"/>
                <a:cs typeface="Malgun Gothic" pitchFamily="34" charset="-120"/>
              </a:rPr>
              <a:t>→ PC chrony 서버 + 로봇 timesyncd 추종</a:t>
            </a:r>
            <a:endParaRPr lang="en-US" sz="1300" dirty="0"/>
          </a:p>
        </p:txBody>
      </p:sp>
      <p:sp>
        <p:nvSpPr>
          <p:cNvPr id="16" name="card-167"/>
          <p:cNvSpPr/>
          <p:nvPr/>
        </p:nvSpPr>
        <p:spPr>
          <a:xfrm>
            <a:off x="6190488" y="3931920"/>
            <a:ext cx="5449824" cy="2011680"/>
          </a:xfrm>
          <a:prstGeom prst="roundRect">
            <a:avLst>
              <a:gd name="adj" fmla="val 5455"/>
            </a:avLst>
          </a:prstGeom>
          <a:solidFill>
            <a:srgbClr val="F3F5F8"/>
          </a:solidFill>
          <a:ln w="9525">
            <a:solidFill>
              <a:srgbClr val="F3F5F8"/>
            </a:solidFill>
            <a:prstDash val="solid"/>
          </a:ln>
        </p:spPr>
      </p:sp>
      <p:sp>
        <p:nvSpPr>
          <p:cNvPr id="17" name="text-168"/>
          <p:cNvSpPr txBox="1"/>
          <p:nvPr/>
        </p:nvSpPr>
        <p:spPr>
          <a:xfrm>
            <a:off x="6510528" y="4160520"/>
            <a:ext cx="4809744" cy="384048"/>
          </a:xfrm>
          <a:prstGeom prst="rect">
            <a:avLst/>
          </a:prstGeom>
          <a:noFill/>
          <a:ln/>
        </p:spPr>
        <p:txBody>
          <a:bodyPr wrap="square" lIns="0" tIns="0" rIns="0" bIns="0" rtlCol="0" anchor="t"/>
          <a:lstStyle/>
          <a:p>
            <a:pPr indent="0" marL="0">
              <a:buNone/>
            </a:pPr>
            <a:r>
              <a:rPr lang="en-US" sz="1800" b="1" dirty="0">
                <a:solidFill>
                  <a:srgbClr val="14213D"/>
                </a:solidFill>
                <a:latin typeface="Malgun Gothic" pitchFamily="34" charset="0"/>
                <a:ea typeface="Malgun Gothic" pitchFamily="34" charset="-122"/>
                <a:cs typeface="Malgun Gothic" pitchFamily="34" charset="-120"/>
              </a:rPr>
              <a:t>DDS 참가자 고갈</a:t>
            </a:r>
            <a:endParaRPr lang="en-US" sz="1800" dirty="0"/>
          </a:p>
        </p:txBody>
      </p:sp>
      <p:sp>
        <p:nvSpPr>
          <p:cNvPr id="18" name="text-169"/>
          <p:cNvSpPr txBox="1"/>
          <p:nvPr/>
        </p:nvSpPr>
        <p:spPr>
          <a:xfrm>
            <a:off x="6510528" y="4617720"/>
            <a:ext cx="4809744" cy="640080"/>
          </a:xfrm>
          <a:prstGeom prst="rect">
            <a:avLst/>
          </a:prstGeom>
          <a:noFill/>
          <a:ln/>
        </p:spPr>
        <p:txBody>
          <a:bodyPr wrap="square" lIns="0" tIns="0" rIns="0" bIns="0" rtlCol="0" anchor="t"/>
          <a:lstStyle/>
          <a:p>
            <a:pPr indent="0" marL="0">
              <a:lnSpc>
                <a:spcPct val="120000"/>
              </a:lnSpc>
              <a:buNone/>
            </a:pPr>
            <a:r>
              <a:rPr lang="en-US" sz="1300" dirty="0">
                <a:solidFill>
                  <a:srgbClr val="4A5568"/>
                </a:solidFill>
                <a:latin typeface="Malgun Gothic" pitchFamily="34" charset="0"/>
                <a:ea typeface="Malgun Gothic" pitchFamily="34" charset="-122"/>
                <a:cs typeface="Malgun Gothic" pitchFamily="34" charset="-120"/>
              </a:rPr>
              <a:t>Ctrl+Z로 "끈" Nav2 스택 수십 개가 정지 상태로 잔존</a:t>
            </a:r>
            <a:endParaRPr lang="en-US" sz="1300" dirty="0"/>
          </a:p>
        </p:txBody>
      </p:sp>
      <p:sp>
        <p:nvSpPr>
          <p:cNvPr id="19" name="text-170"/>
          <p:cNvSpPr txBox="1"/>
          <p:nvPr/>
        </p:nvSpPr>
        <p:spPr>
          <a:xfrm>
            <a:off x="6510528" y="5303520"/>
            <a:ext cx="4809744" cy="457200"/>
          </a:xfrm>
          <a:prstGeom prst="rect">
            <a:avLst/>
          </a:prstGeom>
          <a:noFill/>
          <a:ln/>
        </p:spPr>
        <p:txBody>
          <a:bodyPr wrap="square" lIns="0" tIns="0" rIns="0" bIns="0" rtlCol="0" anchor="t"/>
          <a:lstStyle/>
          <a:p>
            <a:pPr indent="0" marL="0">
              <a:buNone/>
            </a:pPr>
            <a:r>
              <a:rPr lang="en-US" sz="1300" b="1" dirty="0">
                <a:solidFill>
                  <a:srgbClr val="2E7D4F"/>
                </a:solidFill>
                <a:latin typeface="Malgun Gothic" pitchFamily="34" charset="0"/>
                <a:ea typeface="Malgun Gothic" pitchFamily="34" charset="-122"/>
                <a:cs typeface="Malgun Gothic" pitchFamily="34" charset="-120"/>
              </a:rPr>
              <a:t>→ 시작 시 정리 · TSTP 차단 · MaxAutoParticipantIndex 50</a:t>
            </a:r>
            <a:endParaRPr lang="en-US" sz="1300" dirty="0"/>
          </a:p>
        </p:txBody>
      </p:sp>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200" spc="200" kern="0" dirty="0">
                <a:solidFill>
                  <a:srgbClr val="2F6FDB"/>
                </a:solidFill>
                <a:latin typeface="Consolas" pitchFamily="34" charset="0"/>
                <a:ea typeface="Consolas" pitchFamily="34" charset="-122"/>
                <a:cs typeface="Consolas" pitchFamily="34" charset="-120"/>
              </a:rPr>
              <a:t>05 · 한계와 다음 단계</a:t>
            </a:r>
            <a:endParaRPr lang="en-US" sz="12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ctr"/>
          <a:lstStyle/>
          <a:p>
            <a:pPr algn="l" indent="0" marL="0">
              <a:buNone/>
            </a:pPr>
            <a:r>
              <a:rPr lang="en-US" sz="2800" b="1" dirty="0">
                <a:solidFill>
                  <a:srgbClr val="14213D"/>
                </a:solidFill>
                <a:latin typeface="Malgun Gothic" pitchFamily="34" charset="0"/>
                <a:ea typeface="Malgun Gothic" pitchFamily="34" charset="-122"/>
                <a:cs typeface="Malgun Gothic" pitchFamily="34" charset="-120"/>
              </a:rPr>
              <a:t>남은 숙제</a:t>
            </a:r>
            <a:endParaRPr lang="en-US" sz="2800" dirty="0"/>
          </a:p>
        </p:txBody>
      </p:sp>
      <p:graphicFrame>
        <p:nvGraphicFramePr>
          <p:cNvPr id="18" name="table-171"/>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645920"/>
                <a:gridCol w="5029200"/>
                <a:gridCol w="4419295"/>
              </a:tblGrid>
              <a:tr h="566928">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구분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지금</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다음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4213D"/>
                    </a:solidFill>
                  </a:tcPr>
                </a:tc>
              </a:tr>
              <a:tr h="56692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우선순위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robot1 고정 우선, N대 확장 불가</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경로 충돌 그래프 기반 동적 우선순위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양보 위치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대기 지점이 inflation 0.4 m 안이면 길을 막음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위험 구역 밖 대기 지점 선택</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6692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도착 판정</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구석에서 yaw 판정으로 회전 반복</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구석 목표의 heading 자동 조정</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안전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로봇 측 cmd_vel watchdog 없음, Collision Monitor 미사용</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bringup 타임아웃 + Collision Monitor</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r h="56692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실물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팀 Nav2 값 실물 미검증, robot1 주행 방향 반전(원인 미확인)</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LiDAR·휠 방향, 전역 추정 180° 수렴 점검</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확장</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카메라 · 인식 · 차선 주행 개발 중</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400" dirty="0">
                          <a:solidFill>
                            <a:srgbClr val="14213D"/>
                          </a:solidFill>
                          <a:latin typeface="Malgun Gothic" pitchFamily="34" charset="0"/>
                          <a:ea typeface="Malgun Gothic" pitchFamily="34" charset="-122"/>
                          <a:cs typeface="Malgun Gothic" pitchFamily="34" charset="-120"/>
                        </a:rPr>
                        <a:t>인식 결과를 관제 화면과 주행 정책에 연결</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3F5F8"/>
                    </a:solidFill>
                  </a:tcPr>
                </a:tc>
              </a:tr>
            </a:tbl>
          </a:graphicData>
        </a:graphic>
      </p:graphicFrame>
      <p:sp>
        <p:nvSpPr>
          <p:cNvPr id="25" name="Slide Number Placeholder 0"/>
          <p:cNvSpPr>
            <a:spLocks noGrp="1"/>
          </p:cNvSpPr>
          <p:nvPr>
            <p:ph type="sldNum" sz="quarter" idx="4294967295"/>
          </p:nvPr>
        </p:nvSpPr>
        <p:spPr>
          <a:xfrm>
            <a:off x="11183112"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172"/>
          <p:cNvSpPr txBox="1"/>
          <p:nvPr/>
        </p:nvSpPr>
        <p:spPr>
          <a:xfrm>
            <a:off x="548640" y="1097280"/>
            <a:ext cx="5486400" cy="365760"/>
          </a:xfrm>
          <a:prstGeom prst="rect">
            <a:avLst/>
          </a:prstGeom>
          <a:noFill/>
          <a:ln/>
        </p:spPr>
        <p:txBody>
          <a:bodyPr wrap="square" lIns="0" tIns="0" rIns="0" bIns="0" rtlCol="0" anchor="t"/>
          <a:lstStyle/>
          <a:p>
            <a:pPr indent="0" marL="0">
              <a:buNone/>
            </a:pPr>
            <a:r>
              <a:rPr lang="en-US" sz="1400" spc="200" kern="0" dirty="0">
                <a:solidFill>
                  <a:srgbClr val="8FB3F0"/>
                </a:solidFill>
                <a:latin typeface="Consolas" pitchFamily="34" charset="0"/>
                <a:ea typeface="Consolas" pitchFamily="34" charset="-122"/>
                <a:cs typeface="Consolas" pitchFamily="34" charset="-120"/>
              </a:rPr>
              <a:t>정리</a:t>
            </a:r>
            <a:endParaRPr lang="en-US" sz="1400" dirty="0"/>
          </a:p>
        </p:txBody>
      </p:sp>
      <p:sp>
        <p:nvSpPr>
          <p:cNvPr id="3" name="text-173"/>
          <p:cNvSpPr txBox="1"/>
          <p:nvPr/>
        </p:nvSpPr>
        <p:spPr>
          <a:xfrm>
            <a:off x="548640" y="1600200"/>
            <a:ext cx="11094415" cy="1371600"/>
          </a:xfrm>
          <a:prstGeom prst="rect">
            <a:avLst/>
          </a:prstGeom>
          <a:noFill/>
          <a:ln/>
        </p:spPr>
        <p:txBody>
          <a:bodyPr wrap="square" lIns="0" tIns="0" rIns="0" bIns="0" rtlCol="0" anchor="t"/>
          <a:lstStyle/>
          <a:p>
            <a:pPr indent="0" marL="0">
              <a:lnSpc>
                <a:spcPct val="125000"/>
              </a:lnSpc>
              <a:buNone/>
            </a:pPr>
            <a:r>
              <a:rPr lang="en-US" sz="3000" b="1" dirty="0">
                <a:solidFill>
                  <a:srgbClr val="F6F7F4"/>
                </a:solidFill>
                <a:latin typeface="Malgun Gothic" pitchFamily="34" charset="0"/>
                <a:ea typeface="Malgun Gothic" pitchFamily="34" charset="-122"/>
                <a:cs typeface="Malgun Gothic" pitchFamily="34" charset="-120"/>
              </a:rPr>
              <a:t>도메인으로 나누고, PC에서 계산하고,</a:t>
            </a:r>
            <a:endParaRPr lang="en-US" sz="3000" dirty="0"/>
          </a:p>
          <a:p>
            <a:pPr indent="0" marL="0">
              <a:lnSpc>
                <a:spcPct val="125000"/>
              </a:lnSpc>
              <a:buNone/>
            </a:pPr>
            <a:r>
              <a:rPr lang="en-US" sz="3000" b="1" dirty="0">
                <a:solidFill>
                  <a:srgbClr val="F6F7F4"/>
                </a:solidFill>
                <a:latin typeface="Malgun Gothic" pitchFamily="34" charset="0"/>
                <a:ea typeface="Malgun Gothic" pitchFamily="34" charset="-122"/>
                <a:cs typeface="Malgun Gothic" pitchFamily="34" charset="-120"/>
              </a:rPr>
              <a:t>판단은 순수 함수로. 그리고 </a:t>
            </a:r>
            <a:pPr indent="0" marL="0">
              <a:lnSpc>
                <a:spcPct val="125000"/>
              </a:lnSpc>
              <a:buNone/>
            </a:pPr>
            <a:r>
              <a:rPr lang="en-US" sz="3000" b="1" dirty="0">
                <a:solidFill>
                  <a:srgbClr val="F2A65A"/>
                </a:solidFill>
                <a:latin typeface="Malgun Gothic" pitchFamily="34" charset="0"/>
                <a:ea typeface="Malgun Gothic" pitchFamily="34" charset="-122"/>
                <a:cs typeface="Malgun Gothic" pitchFamily="34" charset="-120"/>
              </a:rPr>
              <a:t>측정한 다음 고쳤다.</a:t>
            </a:r>
            <a:endParaRPr lang="en-US" sz="3000" dirty="0"/>
          </a:p>
        </p:txBody>
      </p:sp>
      <p:sp>
        <p:nvSpPr>
          <p:cNvPr id="4" name="text-174"/>
          <p:cNvSpPr txBox="1"/>
          <p:nvPr/>
        </p:nvSpPr>
        <p:spPr>
          <a:xfrm>
            <a:off x="548640" y="3429000"/>
            <a:ext cx="2651760" cy="822960"/>
          </a:xfrm>
          <a:prstGeom prst="rect">
            <a:avLst/>
          </a:prstGeom>
          <a:noFill/>
          <a:ln/>
        </p:spPr>
        <p:txBody>
          <a:bodyPr wrap="square" lIns="0" tIns="0" rIns="0" bIns="0" rtlCol="0" anchor="t"/>
          <a:lstStyle/>
          <a:p>
            <a:pPr indent="0" marL="0">
              <a:buNone/>
            </a:pPr>
            <a:r>
              <a:rPr lang="en-US" sz="4400" b="1" dirty="0">
                <a:solidFill>
                  <a:srgbClr val="F6F7F4"/>
                </a:solidFill>
                <a:latin typeface="Consolas" pitchFamily="34" charset="0"/>
                <a:ea typeface="Consolas" pitchFamily="34" charset="-122"/>
                <a:cs typeface="Consolas" pitchFamily="34" charset="-120"/>
              </a:rPr>
              <a:t>5</a:t>
            </a:r>
            <a:endParaRPr lang="en-US" sz="4400" dirty="0"/>
          </a:p>
        </p:txBody>
      </p:sp>
      <p:sp>
        <p:nvSpPr>
          <p:cNvPr id="5" name="text-175"/>
          <p:cNvSpPr txBox="1"/>
          <p:nvPr/>
        </p:nvSpPr>
        <p:spPr>
          <a:xfrm>
            <a:off x="548640" y="4251960"/>
            <a:ext cx="2651760" cy="365760"/>
          </a:xfrm>
          <a:prstGeom prst="rect">
            <a:avLst/>
          </a:prstGeom>
          <a:noFill/>
          <a:ln/>
        </p:spPr>
        <p:txBody>
          <a:bodyPr wrap="square" lIns="0" tIns="0" rIns="0" bIns="0" rtlCol="0" anchor="t"/>
          <a:lstStyle/>
          <a:p>
            <a:pPr indent="0" marL="0">
              <a:buNone/>
            </a:pPr>
            <a:r>
              <a:rPr lang="en-US" sz="1500" dirty="0">
                <a:solidFill>
                  <a:srgbClr val="C9D3E3"/>
                </a:solidFill>
                <a:latin typeface="Malgun Gothic" pitchFamily="34" charset="0"/>
                <a:ea typeface="Malgun Gothic" pitchFamily="34" charset="-122"/>
                <a:cs typeface="Malgun Gothic" pitchFamily="34" charset="-120"/>
              </a:rPr>
              <a:t>바꾼 Nav2 값</a:t>
            </a:r>
            <a:endParaRPr lang="en-US" sz="1500" dirty="0"/>
          </a:p>
        </p:txBody>
      </p:sp>
      <p:sp>
        <p:nvSpPr>
          <p:cNvPr id="6" name="text-176"/>
          <p:cNvSpPr txBox="1"/>
          <p:nvPr/>
        </p:nvSpPr>
        <p:spPr>
          <a:xfrm>
            <a:off x="3474720" y="3429000"/>
            <a:ext cx="2651760" cy="822960"/>
          </a:xfrm>
          <a:prstGeom prst="rect">
            <a:avLst/>
          </a:prstGeom>
          <a:noFill/>
          <a:ln/>
        </p:spPr>
        <p:txBody>
          <a:bodyPr wrap="square" lIns="0" tIns="0" rIns="0" bIns="0" rtlCol="0" anchor="t"/>
          <a:lstStyle/>
          <a:p>
            <a:pPr indent="0" marL="0">
              <a:buNone/>
            </a:pPr>
            <a:r>
              <a:rPr lang="en-US" sz="4400" b="1" dirty="0">
                <a:solidFill>
                  <a:srgbClr val="F6F7F4"/>
                </a:solidFill>
                <a:latin typeface="Consolas" pitchFamily="34" charset="0"/>
                <a:ea typeface="Consolas" pitchFamily="34" charset="-122"/>
                <a:cs typeface="Consolas" pitchFamily="34" charset="-120"/>
              </a:rPr>
              <a:t>2</a:t>
            </a:r>
            <a:endParaRPr lang="en-US" sz="4400" dirty="0"/>
          </a:p>
        </p:txBody>
      </p:sp>
      <p:sp>
        <p:nvSpPr>
          <p:cNvPr id="7" name="text-177"/>
          <p:cNvSpPr txBox="1"/>
          <p:nvPr/>
        </p:nvSpPr>
        <p:spPr>
          <a:xfrm>
            <a:off x="3474720" y="4251960"/>
            <a:ext cx="2651760" cy="365760"/>
          </a:xfrm>
          <a:prstGeom prst="rect">
            <a:avLst/>
          </a:prstGeom>
          <a:noFill/>
          <a:ln/>
        </p:spPr>
        <p:txBody>
          <a:bodyPr wrap="square" lIns="0" tIns="0" rIns="0" bIns="0" rtlCol="0" anchor="t"/>
          <a:lstStyle/>
          <a:p>
            <a:pPr indent="0" marL="0">
              <a:buNone/>
            </a:pPr>
            <a:r>
              <a:rPr lang="en-US" sz="1500" dirty="0">
                <a:solidFill>
                  <a:srgbClr val="C9D3E3"/>
                </a:solidFill>
                <a:latin typeface="Malgun Gothic" pitchFamily="34" charset="0"/>
                <a:ea typeface="Malgun Gothic" pitchFamily="34" charset="-122"/>
                <a:cs typeface="Malgun Gothic" pitchFamily="34" charset="-120"/>
              </a:rPr>
              <a:t>교통 정리 버전</a:t>
            </a:r>
            <a:endParaRPr lang="en-US" sz="1500" dirty="0"/>
          </a:p>
        </p:txBody>
      </p:sp>
      <p:sp>
        <p:nvSpPr>
          <p:cNvPr id="8" name="text-178"/>
          <p:cNvSpPr txBox="1"/>
          <p:nvPr/>
        </p:nvSpPr>
        <p:spPr>
          <a:xfrm>
            <a:off x="6400800" y="3429000"/>
            <a:ext cx="2651760" cy="822960"/>
          </a:xfrm>
          <a:prstGeom prst="rect">
            <a:avLst/>
          </a:prstGeom>
          <a:noFill/>
          <a:ln/>
        </p:spPr>
        <p:txBody>
          <a:bodyPr wrap="square" lIns="0" tIns="0" rIns="0" bIns="0" rtlCol="0" anchor="t"/>
          <a:lstStyle/>
          <a:p>
            <a:pPr indent="0" marL="0">
              <a:buNone/>
            </a:pPr>
            <a:r>
              <a:rPr lang="en-US" sz="4400" b="1" dirty="0">
                <a:solidFill>
                  <a:srgbClr val="F6F7F4"/>
                </a:solidFill>
                <a:latin typeface="Consolas" pitchFamily="34" charset="0"/>
                <a:ea typeface="Consolas" pitchFamily="34" charset="-122"/>
                <a:cs typeface="Consolas" pitchFamily="34" charset="-120"/>
              </a:rPr>
              <a:t>113</a:t>
            </a:r>
            <a:endParaRPr lang="en-US" sz="4400" dirty="0"/>
          </a:p>
        </p:txBody>
      </p:sp>
      <p:sp>
        <p:nvSpPr>
          <p:cNvPr id="9" name="text-179"/>
          <p:cNvSpPr txBox="1"/>
          <p:nvPr/>
        </p:nvSpPr>
        <p:spPr>
          <a:xfrm>
            <a:off x="6400800" y="4251960"/>
            <a:ext cx="2651760" cy="365760"/>
          </a:xfrm>
          <a:prstGeom prst="rect">
            <a:avLst/>
          </a:prstGeom>
          <a:noFill/>
          <a:ln/>
        </p:spPr>
        <p:txBody>
          <a:bodyPr wrap="square" lIns="0" tIns="0" rIns="0" bIns="0" rtlCol="0" anchor="t"/>
          <a:lstStyle/>
          <a:p>
            <a:pPr indent="0" marL="0">
              <a:buNone/>
            </a:pPr>
            <a:r>
              <a:rPr lang="en-US" sz="1500" dirty="0">
                <a:solidFill>
                  <a:srgbClr val="C9D3E3"/>
                </a:solidFill>
                <a:latin typeface="Malgun Gothic" pitchFamily="34" charset="0"/>
                <a:ea typeface="Malgun Gothic" pitchFamily="34" charset="-122"/>
                <a:cs typeface="Malgun Gothic" pitchFamily="34" charset="-120"/>
              </a:rPr>
              <a:t>DDS 없는 단위 테스트</a:t>
            </a:r>
            <a:endParaRPr lang="en-US" sz="1500" dirty="0"/>
          </a:p>
        </p:txBody>
      </p:sp>
      <p:sp>
        <p:nvSpPr>
          <p:cNvPr id="10" name="text-180"/>
          <p:cNvSpPr txBox="1"/>
          <p:nvPr/>
        </p:nvSpPr>
        <p:spPr>
          <a:xfrm>
            <a:off x="548640" y="5257800"/>
            <a:ext cx="5486400" cy="548640"/>
          </a:xfrm>
          <a:prstGeom prst="rect">
            <a:avLst/>
          </a:prstGeom>
          <a:noFill/>
          <a:ln/>
        </p:spPr>
        <p:txBody>
          <a:bodyPr wrap="square" lIns="0" tIns="0" rIns="0" bIns="0" rtlCol="0" anchor="t"/>
          <a:lstStyle/>
          <a:p>
            <a:pPr indent="0" marL="0">
              <a:buNone/>
            </a:pPr>
            <a:r>
              <a:rPr lang="en-US" sz="2400" b="1" dirty="0">
                <a:solidFill>
                  <a:srgbClr val="8FB3F0"/>
                </a:solidFill>
                <a:latin typeface="Malgun Gothic" pitchFamily="34" charset="0"/>
                <a:ea typeface="Malgun Gothic" pitchFamily="34" charset="-122"/>
                <a:cs typeface="Malgun Gothic" pitchFamily="34" charset="-120"/>
              </a:rPr>
              <a:t>질문 받겠습니다</a:t>
            </a:r>
            <a:endParaRPr lang="en-US" sz="2400" dirty="0"/>
          </a:p>
        </p:txBody>
      </p:sp>
    </p:spTree>
  </p:cSld>
  <p:clrMapOvr>
    <a:masterClrMapping/>
  </p:clrMapOvr>
</p:sld>
</file>

<file path=ppt/theme/theme1.xml><?xml version="1.0" encoding="utf-8"?>
<a:theme xmlns:a="http://schemas.openxmlformats.org/drawingml/2006/main" name="giddongcar fleet">
  <a:themeElements>
    <a:clrScheme name="giddongcar fleet">
      <a:dk1>
        <a:srgbClr val="14213D"/>
      </a:dk1>
      <a:lt1>
        <a:srgbClr val="FFFFFF"/>
      </a:lt1>
      <a:dk2>
        <a:srgbClr val="4A5568"/>
      </a:dk2>
      <a:lt2>
        <a:srgbClr val="F3F5F8"/>
      </a:lt2>
      <a:accent1>
        <a:srgbClr val="2F6FDB"/>
      </a:accent1>
      <a:accent2>
        <a:srgbClr val="D9822B"/>
      </a:accent2>
      <a:accent3>
        <a:srgbClr val="2E7D4F"/>
      </a:accent3>
      <a:accent4>
        <a:srgbClr val="6B4FA5"/>
      </a:accent4>
      <a:accent5>
        <a:srgbClr val="8A94A6"/>
      </a:accent5>
      <a:accent6>
        <a:srgbClr val="F2A65A"/>
      </a:accent6>
      <a:hlink>
        <a:srgbClr val="2F6FDB"/>
      </a:hlink>
      <a:folHlink>
        <a:srgbClr val="6B4FA5"/>
      </a:folHlink>
    </a:clrScheme>
    <a:fontScheme name="giddongcar fleet">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 2 다중 로봇 관제 시스템</dc:title>
  <dc:subject>PptxGenJS Presentation</dc:subject>
  <dc:creator>PptxGenJS</dc:creator>
  <cp:lastModifiedBy>PptxGenJS</cp:lastModifiedBy>
  <cp:revision>1</cp:revision>
  <dcterms:created xsi:type="dcterms:W3CDTF">2026-10-08T12:00:58Z</dcterms:created>
  <dcterms:modified xsi:type="dcterms:W3CDTF">2026-10-08T12:00:58Z</dcterms:modified>
</cp:coreProperties>
</file>